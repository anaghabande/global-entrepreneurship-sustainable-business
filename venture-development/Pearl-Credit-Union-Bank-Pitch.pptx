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lacial Indifference" charset="1" panose="00000000000000000000"/>
      <p:regular r:id="rId16"/>
    </p:embeddedFont>
    <p:embeddedFont>
      <p:font typeface="League Spartan" charset="1" panose="00000800000000000000"/>
      <p:regular r:id="rId17"/>
    </p:embeddedFont>
    <p:embeddedFont>
      <p:font typeface="Glacial Indifference Bold" charset="1" panose="00000800000000000000"/>
      <p:regular r:id="rId18"/>
    </p:embeddedFont>
    <p:embeddedFont>
      <p:font typeface="Heading Now 71-78" charset="1" panose="00000000000000000000"/>
      <p:regular r:id="rId19"/>
    </p:embeddedFont>
    <p:embeddedFont>
      <p:font typeface="TT Firs Neue Bold" charset="1" panose="020008030300000200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jpeg" Type="http://schemas.openxmlformats.org/officeDocument/2006/relationships/image"/><Relationship Id="rId3" Target="../media/image15.jpe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 Id="rId3" Target="../media/image1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 Id="rId9" Target="../media/image2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 Id="rId3"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 Id="rId3" Target="../media/image31.jpeg" Type="http://schemas.openxmlformats.org/officeDocument/2006/relationships/image"/><Relationship Id="rId4" Target="../media/image32.jpe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2088381">
            <a:off x="6234676" y="5034634"/>
            <a:ext cx="7946576" cy="1601596"/>
            <a:chOff x="0" y="0"/>
            <a:chExt cx="3539030" cy="713275"/>
          </a:xfrm>
        </p:grpSpPr>
        <p:sp>
          <p:nvSpPr>
            <p:cNvPr name="Freeform 4" id="4"/>
            <p:cNvSpPr/>
            <p:nvPr/>
          </p:nvSpPr>
          <p:spPr>
            <a:xfrm flipH="false" flipV="false" rot="0">
              <a:off x="0" y="0"/>
              <a:ext cx="3539030" cy="713275"/>
            </a:xfrm>
            <a:custGeom>
              <a:avLst/>
              <a:gdLst/>
              <a:ahLst/>
              <a:cxnLst/>
              <a:rect r="r" b="b" t="t" l="l"/>
              <a:pathLst>
                <a:path h="713275" w="3539030">
                  <a:moveTo>
                    <a:pt x="203200" y="0"/>
                  </a:moveTo>
                  <a:lnTo>
                    <a:pt x="3539030" y="0"/>
                  </a:lnTo>
                  <a:lnTo>
                    <a:pt x="3335830" y="713275"/>
                  </a:lnTo>
                  <a:lnTo>
                    <a:pt x="0" y="713275"/>
                  </a:lnTo>
                  <a:lnTo>
                    <a:pt x="203200" y="0"/>
                  </a:lnTo>
                  <a:close/>
                </a:path>
              </a:pathLst>
            </a:custGeom>
            <a:solidFill>
              <a:srgbClr val="66574D"/>
            </a:solidFill>
          </p:spPr>
        </p:sp>
        <p:sp>
          <p:nvSpPr>
            <p:cNvPr name="TextBox 5" id="5"/>
            <p:cNvSpPr txBox="true"/>
            <p:nvPr/>
          </p:nvSpPr>
          <p:spPr>
            <a:xfrm>
              <a:off x="101600" y="-38100"/>
              <a:ext cx="3335830" cy="75137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6869839" y="781317"/>
            <a:ext cx="14248619" cy="8476983"/>
            <a:chOff x="0" y="0"/>
            <a:chExt cx="1024652" cy="609600"/>
          </a:xfrm>
        </p:grpSpPr>
        <p:sp>
          <p:nvSpPr>
            <p:cNvPr name="Freeform 7" id="7"/>
            <p:cNvSpPr/>
            <p:nvPr/>
          </p:nvSpPr>
          <p:spPr>
            <a:xfrm flipH="false" flipV="false" rot="0">
              <a:off x="0" y="0"/>
              <a:ext cx="1024652" cy="609600"/>
            </a:xfrm>
            <a:custGeom>
              <a:avLst/>
              <a:gdLst/>
              <a:ahLst/>
              <a:cxnLst/>
              <a:rect r="r" b="b" t="t" l="l"/>
              <a:pathLst>
                <a:path h="609600" w="1024652">
                  <a:moveTo>
                    <a:pt x="821452" y="0"/>
                  </a:moveTo>
                  <a:lnTo>
                    <a:pt x="0" y="0"/>
                  </a:lnTo>
                  <a:lnTo>
                    <a:pt x="203200" y="609600"/>
                  </a:lnTo>
                  <a:lnTo>
                    <a:pt x="1024652" y="609600"/>
                  </a:lnTo>
                  <a:lnTo>
                    <a:pt x="821452" y="0"/>
                  </a:lnTo>
                  <a:close/>
                </a:path>
              </a:pathLst>
            </a:custGeom>
            <a:solidFill>
              <a:srgbClr val="272220"/>
            </a:solidFill>
          </p:spPr>
        </p:sp>
        <p:sp>
          <p:nvSpPr>
            <p:cNvPr name="TextBox 8" id="8"/>
            <p:cNvSpPr txBox="true"/>
            <p:nvPr/>
          </p:nvSpPr>
          <p:spPr>
            <a:xfrm>
              <a:off x="101600" y="-38100"/>
              <a:ext cx="82145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6869839" y="7206282"/>
            <a:ext cx="13689960" cy="1554646"/>
            <a:chOff x="0" y="0"/>
            <a:chExt cx="5368038" cy="609600"/>
          </a:xfrm>
        </p:grpSpPr>
        <p:sp>
          <p:nvSpPr>
            <p:cNvPr name="Freeform 10" id="10"/>
            <p:cNvSpPr/>
            <p:nvPr/>
          </p:nvSpPr>
          <p:spPr>
            <a:xfrm flipH="false" flipV="false" rot="0">
              <a:off x="0" y="0"/>
              <a:ext cx="5368038" cy="609600"/>
            </a:xfrm>
            <a:custGeom>
              <a:avLst/>
              <a:gdLst/>
              <a:ahLst/>
              <a:cxnLst/>
              <a:rect r="r" b="b" t="t" l="l"/>
              <a:pathLst>
                <a:path h="609600" w="5368038">
                  <a:moveTo>
                    <a:pt x="5164838" y="0"/>
                  </a:moveTo>
                  <a:lnTo>
                    <a:pt x="0" y="0"/>
                  </a:lnTo>
                  <a:lnTo>
                    <a:pt x="203200" y="609600"/>
                  </a:lnTo>
                  <a:lnTo>
                    <a:pt x="5368038" y="609600"/>
                  </a:lnTo>
                  <a:lnTo>
                    <a:pt x="5164838" y="0"/>
                  </a:lnTo>
                  <a:close/>
                </a:path>
              </a:pathLst>
            </a:custGeom>
            <a:solidFill>
              <a:srgbClr val="E9E1DB"/>
            </a:solidFill>
          </p:spPr>
        </p:sp>
        <p:sp>
          <p:nvSpPr>
            <p:cNvPr name="TextBox 11" id="11"/>
            <p:cNvSpPr txBox="true"/>
            <p:nvPr/>
          </p:nvSpPr>
          <p:spPr>
            <a:xfrm>
              <a:off x="101600" y="-38100"/>
              <a:ext cx="5164838"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8711618">
            <a:off x="-4404721" y="9273126"/>
            <a:ext cx="7946576" cy="1601596"/>
            <a:chOff x="0" y="0"/>
            <a:chExt cx="3539030" cy="713275"/>
          </a:xfrm>
        </p:grpSpPr>
        <p:sp>
          <p:nvSpPr>
            <p:cNvPr name="Freeform 13" id="13"/>
            <p:cNvSpPr/>
            <p:nvPr/>
          </p:nvSpPr>
          <p:spPr>
            <a:xfrm flipH="false" flipV="false" rot="0">
              <a:off x="0" y="0"/>
              <a:ext cx="3539030" cy="713275"/>
            </a:xfrm>
            <a:custGeom>
              <a:avLst/>
              <a:gdLst/>
              <a:ahLst/>
              <a:cxnLst/>
              <a:rect r="r" b="b" t="t" l="l"/>
              <a:pathLst>
                <a:path h="713275" w="3539030">
                  <a:moveTo>
                    <a:pt x="203200" y="0"/>
                  </a:moveTo>
                  <a:lnTo>
                    <a:pt x="3539030" y="0"/>
                  </a:lnTo>
                  <a:lnTo>
                    <a:pt x="3335830" y="713275"/>
                  </a:lnTo>
                  <a:lnTo>
                    <a:pt x="0" y="713275"/>
                  </a:lnTo>
                  <a:lnTo>
                    <a:pt x="203200" y="0"/>
                  </a:lnTo>
                  <a:close/>
                </a:path>
              </a:pathLst>
            </a:custGeom>
            <a:solidFill>
              <a:srgbClr val="66574D"/>
            </a:solidFill>
          </p:spPr>
        </p:sp>
        <p:sp>
          <p:nvSpPr>
            <p:cNvPr name="TextBox 14" id="14"/>
            <p:cNvSpPr txBox="true"/>
            <p:nvPr/>
          </p:nvSpPr>
          <p:spPr>
            <a:xfrm>
              <a:off x="101600" y="-38100"/>
              <a:ext cx="3335830" cy="75137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960542" y="5835432"/>
            <a:ext cx="14248619" cy="8476983"/>
            <a:chOff x="0" y="0"/>
            <a:chExt cx="1024652" cy="609600"/>
          </a:xfrm>
        </p:grpSpPr>
        <p:sp>
          <p:nvSpPr>
            <p:cNvPr name="Freeform 16" id="16"/>
            <p:cNvSpPr/>
            <p:nvPr/>
          </p:nvSpPr>
          <p:spPr>
            <a:xfrm flipH="false" flipV="false" rot="0">
              <a:off x="0" y="0"/>
              <a:ext cx="1024652" cy="609600"/>
            </a:xfrm>
            <a:custGeom>
              <a:avLst/>
              <a:gdLst/>
              <a:ahLst/>
              <a:cxnLst/>
              <a:rect r="r" b="b" t="t" l="l"/>
              <a:pathLst>
                <a:path h="609600" w="1024652">
                  <a:moveTo>
                    <a:pt x="821452" y="0"/>
                  </a:moveTo>
                  <a:lnTo>
                    <a:pt x="0" y="0"/>
                  </a:lnTo>
                  <a:lnTo>
                    <a:pt x="203200" y="609600"/>
                  </a:lnTo>
                  <a:lnTo>
                    <a:pt x="1024652" y="609600"/>
                  </a:lnTo>
                  <a:lnTo>
                    <a:pt x="821452" y="0"/>
                  </a:lnTo>
                  <a:close/>
                </a:path>
              </a:pathLst>
            </a:custGeom>
            <a:solidFill>
              <a:srgbClr val="272220"/>
            </a:solidFill>
          </p:spPr>
        </p:sp>
        <p:sp>
          <p:nvSpPr>
            <p:cNvPr name="TextBox 17" id="17"/>
            <p:cNvSpPr txBox="true"/>
            <p:nvPr/>
          </p:nvSpPr>
          <p:spPr>
            <a:xfrm>
              <a:off x="101600" y="-38100"/>
              <a:ext cx="821452"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8" id="18"/>
          <p:cNvGrpSpPr/>
          <p:nvPr/>
        </p:nvGrpSpPr>
        <p:grpSpPr>
          <a:xfrm rot="-10800000">
            <a:off x="-10792952" y="7148428"/>
            <a:ext cx="13689960" cy="1554646"/>
            <a:chOff x="0" y="0"/>
            <a:chExt cx="5368038" cy="609600"/>
          </a:xfrm>
        </p:grpSpPr>
        <p:sp>
          <p:nvSpPr>
            <p:cNvPr name="Freeform 19" id="19"/>
            <p:cNvSpPr/>
            <p:nvPr/>
          </p:nvSpPr>
          <p:spPr>
            <a:xfrm flipH="false" flipV="false" rot="0">
              <a:off x="0" y="0"/>
              <a:ext cx="5368038" cy="609600"/>
            </a:xfrm>
            <a:custGeom>
              <a:avLst/>
              <a:gdLst/>
              <a:ahLst/>
              <a:cxnLst/>
              <a:rect r="r" b="b" t="t" l="l"/>
              <a:pathLst>
                <a:path h="609600" w="5368038">
                  <a:moveTo>
                    <a:pt x="5164838" y="0"/>
                  </a:moveTo>
                  <a:lnTo>
                    <a:pt x="0" y="0"/>
                  </a:lnTo>
                  <a:lnTo>
                    <a:pt x="203200" y="609600"/>
                  </a:lnTo>
                  <a:lnTo>
                    <a:pt x="5368038" y="609600"/>
                  </a:lnTo>
                  <a:lnTo>
                    <a:pt x="5164838" y="0"/>
                  </a:lnTo>
                  <a:close/>
                </a:path>
              </a:pathLst>
            </a:custGeom>
            <a:solidFill>
              <a:srgbClr val="E9E1DB"/>
            </a:solidFill>
          </p:spPr>
        </p:sp>
        <p:sp>
          <p:nvSpPr>
            <p:cNvPr name="TextBox 20" id="20"/>
            <p:cNvSpPr txBox="true"/>
            <p:nvPr/>
          </p:nvSpPr>
          <p:spPr>
            <a:xfrm>
              <a:off x="101600" y="-38100"/>
              <a:ext cx="5164838" cy="647700"/>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0">
            <a:off x="11304579" y="781317"/>
            <a:ext cx="4363665" cy="4713863"/>
          </a:xfrm>
          <a:custGeom>
            <a:avLst/>
            <a:gdLst/>
            <a:ahLst/>
            <a:cxnLst/>
            <a:rect r="r" b="b" t="t" l="l"/>
            <a:pathLst>
              <a:path h="4713863" w="4363665">
                <a:moveTo>
                  <a:pt x="0" y="0"/>
                </a:moveTo>
                <a:lnTo>
                  <a:pt x="4363665" y="0"/>
                </a:lnTo>
                <a:lnTo>
                  <a:pt x="4363665" y="4713863"/>
                </a:lnTo>
                <a:lnTo>
                  <a:pt x="0" y="4713863"/>
                </a:lnTo>
                <a:lnTo>
                  <a:pt x="0" y="0"/>
                </a:lnTo>
                <a:close/>
              </a:path>
            </a:pathLst>
          </a:custGeom>
          <a:blipFill>
            <a:blip r:embed="rId3">
              <a:alphaModFix amt="28000"/>
            </a:blip>
            <a:stretch>
              <a:fillRect l="-4012" t="0" r="-4012" b="0"/>
            </a:stretch>
          </a:blipFill>
        </p:spPr>
      </p:sp>
      <p:sp>
        <p:nvSpPr>
          <p:cNvPr name="TextBox 22" id="22"/>
          <p:cNvSpPr txBox="true"/>
          <p:nvPr/>
        </p:nvSpPr>
        <p:spPr>
          <a:xfrm rot="0">
            <a:off x="8225182" y="7340119"/>
            <a:ext cx="9778741" cy="1565402"/>
          </a:xfrm>
          <a:prstGeom prst="rect">
            <a:avLst/>
          </a:prstGeom>
        </p:spPr>
        <p:txBody>
          <a:bodyPr anchor="t" rtlCol="false" tIns="0" lIns="0" bIns="0" rIns="0">
            <a:spAutoFit/>
          </a:bodyPr>
          <a:lstStyle/>
          <a:p>
            <a:pPr algn="r">
              <a:lnSpc>
                <a:spcPts val="3093"/>
              </a:lnSpc>
            </a:pPr>
            <a:r>
              <a:rPr lang="en-US" sz="2599">
                <a:solidFill>
                  <a:srgbClr val="66574D"/>
                </a:solidFill>
                <a:latin typeface="Glacial Indifference"/>
                <a:ea typeface="Glacial Indifference"/>
                <a:cs typeface="Glacial Indifference"/>
                <a:sym typeface="Glacial Indifference"/>
              </a:rPr>
              <a:t>Presented By : GROUP 5</a:t>
            </a:r>
          </a:p>
          <a:p>
            <a:pPr algn="r">
              <a:lnSpc>
                <a:spcPts val="3093"/>
              </a:lnSpc>
            </a:pPr>
            <a:r>
              <a:rPr lang="en-US" sz="2599">
                <a:solidFill>
                  <a:srgbClr val="66574D"/>
                </a:solidFill>
                <a:latin typeface="Glacial Indifference"/>
                <a:ea typeface="Glacial Indifference"/>
                <a:cs typeface="Glacial Indifference"/>
                <a:sym typeface="Glacial Indifference"/>
              </a:rPr>
              <a:t>TGM 586 Global Entrepreneurship and Sustainable Business</a:t>
            </a:r>
          </a:p>
          <a:p>
            <a:pPr algn="r">
              <a:lnSpc>
                <a:spcPts val="3093"/>
              </a:lnSpc>
            </a:pPr>
            <a:r>
              <a:rPr lang="en-US" sz="2599">
                <a:solidFill>
                  <a:srgbClr val="66574D"/>
                </a:solidFill>
                <a:latin typeface="Glacial Indifference"/>
                <a:ea typeface="Glacial Indifference"/>
                <a:cs typeface="Glacial Indifference"/>
                <a:sym typeface="Glacial Indifference"/>
              </a:rPr>
              <a:t>Guided By: Professor Susan Harmeling</a:t>
            </a:r>
          </a:p>
          <a:p>
            <a:pPr algn="r">
              <a:lnSpc>
                <a:spcPts val="3093"/>
              </a:lnSpc>
            </a:pPr>
          </a:p>
        </p:txBody>
      </p:sp>
      <p:sp>
        <p:nvSpPr>
          <p:cNvPr name="TextBox 23" id="23"/>
          <p:cNvSpPr txBox="true"/>
          <p:nvPr/>
        </p:nvSpPr>
        <p:spPr>
          <a:xfrm rot="0">
            <a:off x="8344688" y="4284465"/>
            <a:ext cx="9778741" cy="1751082"/>
          </a:xfrm>
          <a:prstGeom prst="rect">
            <a:avLst/>
          </a:prstGeom>
        </p:spPr>
        <p:txBody>
          <a:bodyPr anchor="t" rtlCol="false" tIns="0" lIns="0" bIns="0" rIns="0">
            <a:spAutoFit/>
          </a:bodyPr>
          <a:lstStyle/>
          <a:p>
            <a:pPr algn="r">
              <a:lnSpc>
                <a:spcPts val="14258"/>
              </a:lnSpc>
            </a:pPr>
            <a:r>
              <a:rPr lang="en-US" b="true" sz="10184">
                <a:solidFill>
                  <a:srgbClr val="E9E1DB"/>
                </a:solidFill>
                <a:latin typeface="League Spartan"/>
                <a:ea typeface="League Spartan"/>
                <a:cs typeface="League Spartan"/>
                <a:sym typeface="League Spartan"/>
              </a:rPr>
              <a:t>UNION BANK</a:t>
            </a:r>
          </a:p>
        </p:txBody>
      </p:sp>
      <p:sp>
        <p:nvSpPr>
          <p:cNvPr name="TextBox 24" id="24"/>
          <p:cNvSpPr txBox="true"/>
          <p:nvPr/>
        </p:nvSpPr>
        <p:spPr>
          <a:xfrm rot="0">
            <a:off x="9144000" y="2700387"/>
            <a:ext cx="8684824" cy="1784103"/>
          </a:xfrm>
          <a:prstGeom prst="rect">
            <a:avLst/>
          </a:prstGeom>
        </p:spPr>
        <p:txBody>
          <a:bodyPr anchor="t" rtlCol="false" tIns="0" lIns="0" bIns="0" rIns="0">
            <a:spAutoFit/>
          </a:bodyPr>
          <a:lstStyle/>
          <a:p>
            <a:pPr algn="r">
              <a:lnSpc>
                <a:spcPts val="14538"/>
              </a:lnSpc>
            </a:pPr>
            <a:r>
              <a:rPr lang="en-US" b="true" sz="10384">
                <a:solidFill>
                  <a:srgbClr val="E9E1DB"/>
                </a:solidFill>
                <a:latin typeface="Glacial Indifference Bold"/>
                <a:ea typeface="Glacial Indifference Bold"/>
                <a:cs typeface="Glacial Indifference Bold"/>
                <a:sym typeface="Glacial Indifference Bold"/>
              </a:rPr>
              <a:t>PEARL </a:t>
            </a:r>
            <a:r>
              <a:rPr lang="en-US" b="true" sz="10384">
                <a:solidFill>
                  <a:srgbClr val="E9E1DB"/>
                </a:solidFill>
                <a:latin typeface="Glacial Indifference Bold"/>
                <a:ea typeface="Glacial Indifference Bold"/>
                <a:cs typeface="Glacial Indifference Bold"/>
                <a:sym typeface="Glacial Indifference Bold"/>
              </a:rPr>
              <a:t>CREDIT</a:t>
            </a:r>
          </a:p>
        </p:txBody>
      </p:sp>
      <p:sp>
        <p:nvSpPr>
          <p:cNvPr name="TextBox 25" id="25"/>
          <p:cNvSpPr txBox="true"/>
          <p:nvPr/>
        </p:nvSpPr>
        <p:spPr>
          <a:xfrm rot="0">
            <a:off x="11211709" y="6144038"/>
            <a:ext cx="4549406" cy="365760"/>
          </a:xfrm>
          <a:prstGeom prst="rect">
            <a:avLst/>
          </a:prstGeom>
        </p:spPr>
        <p:txBody>
          <a:bodyPr anchor="t" rtlCol="false" tIns="0" lIns="0" bIns="0" rIns="0">
            <a:spAutoFit/>
          </a:bodyPr>
          <a:lstStyle/>
          <a:p>
            <a:pPr algn="r">
              <a:lnSpc>
                <a:spcPts val="2940"/>
              </a:lnSpc>
            </a:pPr>
            <a:r>
              <a:rPr lang="en-US" b="true" sz="2100">
                <a:solidFill>
                  <a:srgbClr val="E9E1DB"/>
                </a:solidFill>
                <a:latin typeface="Glacial Indifference Bold"/>
                <a:ea typeface="Glacial Indifference Bold"/>
                <a:cs typeface="Glacial Indifference Bold"/>
                <a:sym typeface="Glacial Indifference Bold"/>
              </a:rPr>
              <a:t>BUILT FOR YOU. OWNED BY YOU.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9E1DB"/>
        </a:solidFill>
      </p:bgPr>
    </p:bg>
    <p:spTree>
      <p:nvGrpSpPr>
        <p:cNvPr id="1" name=""/>
        <p:cNvGrpSpPr/>
        <p:nvPr/>
      </p:nvGrpSpPr>
      <p:grpSpPr>
        <a:xfrm>
          <a:off x="0" y="0"/>
          <a:ext cx="0" cy="0"/>
          <a:chOff x="0" y="0"/>
          <a:chExt cx="0" cy="0"/>
        </a:xfrm>
      </p:grpSpPr>
      <p:grpSp>
        <p:nvGrpSpPr>
          <p:cNvPr name="Group 2" id="2"/>
          <p:cNvGrpSpPr/>
          <p:nvPr/>
        </p:nvGrpSpPr>
        <p:grpSpPr>
          <a:xfrm rot="-2088381">
            <a:off x="11506575" y="5861545"/>
            <a:ext cx="3560556" cy="1601596"/>
            <a:chOff x="0" y="0"/>
            <a:chExt cx="1585704" cy="713275"/>
          </a:xfrm>
        </p:grpSpPr>
        <p:sp>
          <p:nvSpPr>
            <p:cNvPr name="Freeform 3" id="3"/>
            <p:cNvSpPr/>
            <p:nvPr/>
          </p:nvSpPr>
          <p:spPr>
            <a:xfrm flipH="false" flipV="false" rot="0">
              <a:off x="0" y="0"/>
              <a:ext cx="1585704" cy="713275"/>
            </a:xfrm>
            <a:custGeom>
              <a:avLst/>
              <a:gdLst/>
              <a:ahLst/>
              <a:cxnLst/>
              <a:rect r="r" b="b" t="t" l="l"/>
              <a:pathLst>
                <a:path h="713275" w="1585704">
                  <a:moveTo>
                    <a:pt x="203200" y="0"/>
                  </a:moveTo>
                  <a:lnTo>
                    <a:pt x="1585704" y="0"/>
                  </a:lnTo>
                  <a:lnTo>
                    <a:pt x="1382504" y="713275"/>
                  </a:lnTo>
                  <a:lnTo>
                    <a:pt x="0" y="713275"/>
                  </a:lnTo>
                  <a:lnTo>
                    <a:pt x="203200" y="0"/>
                  </a:lnTo>
                  <a:close/>
                </a:path>
              </a:pathLst>
            </a:custGeom>
            <a:solidFill>
              <a:srgbClr val="66574D"/>
            </a:solidFill>
          </p:spPr>
        </p:sp>
        <p:sp>
          <p:nvSpPr>
            <p:cNvPr name="TextBox 4" id="4"/>
            <p:cNvSpPr txBox="true"/>
            <p:nvPr/>
          </p:nvSpPr>
          <p:spPr>
            <a:xfrm>
              <a:off x="101600" y="-38100"/>
              <a:ext cx="1382504" cy="75137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12437017" y="2153878"/>
            <a:ext cx="6032466" cy="5669499"/>
            <a:chOff x="0" y="0"/>
            <a:chExt cx="700940" cy="658765"/>
          </a:xfrm>
        </p:grpSpPr>
        <p:sp>
          <p:nvSpPr>
            <p:cNvPr name="Freeform 6" id="6"/>
            <p:cNvSpPr/>
            <p:nvPr/>
          </p:nvSpPr>
          <p:spPr>
            <a:xfrm flipH="false" flipV="false" rot="0">
              <a:off x="0" y="0"/>
              <a:ext cx="700940" cy="658765"/>
            </a:xfrm>
            <a:custGeom>
              <a:avLst/>
              <a:gdLst/>
              <a:ahLst/>
              <a:cxnLst/>
              <a:rect r="r" b="b" t="t" l="l"/>
              <a:pathLst>
                <a:path h="658765" w="700940">
                  <a:moveTo>
                    <a:pt x="497740" y="0"/>
                  </a:moveTo>
                  <a:lnTo>
                    <a:pt x="0" y="0"/>
                  </a:lnTo>
                  <a:lnTo>
                    <a:pt x="203200" y="658765"/>
                  </a:lnTo>
                  <a:lnTo>
                    <a:pt x="700940" y="658765"/>
                  </a:lnTo>
                  <a:lnTo>
                    <a:pt x="497740" y="0"/>
                  </a:lnTo>
                  <a:close/>
                </a:path>
              </a:pathLst>
            </a:custGeom>
            <a:blipFill>
              <a:blip r:embed="rId2"/>
              <a:stretch>
                <a:fillRect l="-32310" t="0" r="-32310" b="0"/>
              </a:stretch>
            </a:blipFill>
            <a:ln cap="sq">
              <a:noFill/>
              <a:prstDash val="solid"/>
              <a:miter/>
            </a:ln>
          </p:spPr>
        </p:sp>
      </p:grpSp>
      <p:grpSp>
        <p:nvGrpSpPr>
          <p:cNvPr name="Group 7" id="7"/>
          <p:cNvGrpSpPr/>
          <p:nvPr/>
        </p:nvGrpSpPr>
        <p:grpSpPr>
          <a:xfrm rot="5057610">
            <a:off x="13785034" y="-4255804"/>
            <a:ext cx="6032466" cy="7804385"/>
            <a:chOff x="0" y="0"/>
            <a:chExt cx="700940" cy="906828"/>
          </a:xfrm>
        </p:grpSpPr>
        <p:sp>
          <p:nvSpPr>
            <p:cNvPr name="Freeform 8" id="8"/>
            <p:cNvSpPr/>
            <p:nvPr/>
          </p:nvSpPr>
          <p:spPr>
            <a:xfrm flipH="false" flipV="false" rot="-7079447">
              <a:off x="-214391" y="110570"/>
              <a:ext cx="1129722" cy="685687"/>
            </a:xfrm>
            <a:custGeom>
              <a:avLst/>
              <a:gdLst/>
              <a:ahLst/>
              <a:cxnLst/>
              <a:rect r="r" b="b" t="t" l="l"/>
              <a:pathLst>
                <a:path h="685687" w="1129722">
                  <a:moveTo>
                    <a:pt x="896118" y="685687"/>
                  </a:moveTo>
                  <a:lnTo>
                    <a:pt x="1129722" y="246171"/>
                  </a:lnTo>
                  <a:lnTo>
                    <a:pt x="233604" y="0"/>
                  </a:lnTo>
                  <a:lnTo>
                    <a:pt x="0" y="439516"/>
                  </a:lnTo>
                  <a:lnTo>
                    <a:pt x="896118" y="685687"/>
                  </a:lnTo>
                  <a:close/>
                </a:path>
              </a:pathLst>
            </a:custGeom>
            <a:blipFill>
              <a:blip r:embed="rId3"/>
              <a:stretch>
                <a:fillRect l="-11031" t="-30251" r="-2478" b="-56765"/>
              </a:stretch>
            </a:blipFill>
            <a:ln cap="sq">
              <a:noFill/>
              <a:prstDash val="solid"/>
              <a:miter/>
            </a:ln>
          </p:spPr>
        </p:sp>
      </p:grpSp>
      <p:grpSp>
        <p:nvGrpSpPr>
          <p:cNvPr name="Group 9" id="9"/>
          <p:cNvGrpSpPr/>
          <p:nvPr/>
        </p:nvGrpSpPr>
        <p:grpSpPr>
          <a:xfrm rot="0">
            <a:off x="11740921" y="6759959"/>
            <a:ext cx="10806844" cy="1554646"/>
            <a:chOff x="0" y="0"/>
            <a:chExt cx="4237525" cy="609600"/>
          </a:xfrm>
        </p:grpSpPr>
        <p:sp>
          <p:nvSpPr>
            <p:cNvPr name="Freeform 10" id="10"/>
            <p:cNvSpPr/>
            <p:nvPr/>
          </p:nvSpPr>
          <p:spPr>
            <a:xfrm flipH="false" flipV="false" rot="0">
              <a:off x="0" y="0"/>
              <a:ext cx="4237525" cy="609600"/>
            </a:xfrm>
            <a:custGeom>
              <a:avLst/>
              <a:gdLst/>
              <a:ahLst/>
              <a:cxnLst/>
              <a:rect r="r" b="b" t="t" l="l"/>
              <a:pathLst>
                <a:path h="609600" w="4237525">
                  <a:moveTo>
                    <a:pt x="4034325" y="0"/>
                  </a:moveTo>
                  <a:lnTo>
                    <a:pt x="0" y="0"/>
                  </a:lnTo>
                  <a:lnTo>
                    <a:pt x="203200" y="609600"/>
                  </a:lnTo>
                  <a:lnTo>
                    <a:pt x="4237525" y="609600"/>
                  </a:lnTo>
                  <a:lnTo>
                    <a:pt x="4034325" y="0"/>
                  </a:lnTo>
                  <a:close/>
                </a:path>
              </a:pathLst>
            </a:custGeom>
            <a:solidFill>
              <a:srgbClr val="CFA36F"/>
            </a:solidFill>
          </p:spPr>
        </p:sp>
        <p:sp>
          <p:nvSpPr>
            <p:cNvPr name="TextBox 11" id="11"/>
            <p:cNvSpPr txBox="true"/>
            <p:nvPr/>
          </p:nvSpPr>
          <p:spPr>
            <a:xfrm>
              <a:off x="101600" y="-38100"/>
              <a:ext cx="4034325"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5400000">
            <a:off x="15639470" y="7897866"/>
            <a:ext cx="2793556" cy="3320481"/>
            <a:chOff x="0" y="0"/>
            <a:chExt cx="476056" cy="565851"/>
          </a:xfrm>
        </p:grpSpPr>
        <p:sp>
          <p:nvSpPr>
            <p:cNvPr name="Freeform 13" id="13"/>
            <p:cNvSpPr/>
            <p:nvPr/>
          </p:nvSpPr>
          <p:spPr>
            <a:xfrm flipH="false" flipV="false" rot="-5400000">
              <a:off x="-44897" y="44897"/>
              <a:ext cx="565851" cy="476056"/>
            </a:xfrm>
            <a:custGeom>
              <a:avLst/>
              <a:gdLst/>
              <a:ahLst/>
              <a:cxnLst/>
              <a:rect r="r" b="b" t="t" l="l"/>
              <a:pathLst>
                <a:path h="476056" w="565851">
                  <a:moveTo>
                    <a:pt x="565850" y="272856"/>
                  </a:moveTo>
                  <a:lnTo>
                    <a:pt x="565850" y="0"/>
                  </a:lnTo>
                  <a:lnTo>
                    <a:pt x="0" y="203200"/>
                  </a:lnTo>
                  <a:lnTo>
                    <a:pt x="0" y="476056"/>
                  </a:lnTo>
                  <a:lnTo>
                    <a:pt x="565850" y="272856"/>
                  </a:lnTo>
                  <a:close/>
                </a:path>
              </a:pathLst>
            </a:custGeom>
            <a:blipFill>
              <a:blip r:embed="rId4"/>
              <a:stretch>
                <a:fillRect l="-4421" t="-29373" r="-4421" b="0"/>
              </a:stretch>
            </a:blipFill>
            <a:ln cap="sq">
              <a:noFill/>
              <a:prstDash val="solid"/>
              <a:miter/>
            </a:ln>
          </p:spPr>
        </p:sp>
      </p:grpSp>
      <p:grpSp>
        <p:nvGrpSpPr>
          <p:cNvPr name="Group 14" id="14"/>
          <p:cNvGrpSpPr/>
          <p:nvPr/>
        </p:nvGrpSpPr>
        <p:grpSpPr>
          <a:xfrm rot="8711618">
            <a:off x="-2133169" y="9631219"/>
            <a:ext cx="5561336" cy="1311561"/>
            <a:chOff x="0" y="0"/>
            <a:chExt cx="3024458" cy="713275"/>
          </a:xfrm>
        </p:grpSpPr>
        <p:sp>
          <p:nvSpPr>
            <p:cNvPr name="Freeform 15" id="15"/>
            <p:cNvSpPr/>
            <p:nvPr/>
          </p:nvSpPr>
          <p:spPr>
            <a:xfrm flipH="false" flipV="false" rot="0">
              <a:off x="0" y="0"/>
              <a:ext cx="3024458" cy="713275"/>
            </a:xfrm>
            <a:custGeom>
              <a:avLst/>
              <a:gdLst/>
              <a:ahLst/>
              <a:cxnLst/>
              <a:rect r="r" b="b" t="t" l="l"/>
              <a:pathLst>
                <a:path h="713275" w="3024458">
                  <a:moveTo>
                    <a:pt x="203200" y="0"/>
                  </a:moveTo>
                  <a:lnTo>
                    <a:pt x="3024458" y="0"/>
                  </a:lnTo>
                  <a:lnTo>
                    <a:pt x="2821258" y="713275"/>
                  </a:lnTo>
                  <a:lnTo>
                    <a:pt x="0" y="713275"/>
                  </a:lnTo>
                  <a:lnTo>
                    <a:pt x="203200" y="0"/>
                  </a:lnTo>
                  <a:close/>
                </a:path>
              </a:pathLst>
            </a:custGeom>
            <a:solidFill>
              <a:srgbClr val="66574D"/>
            </a:solidFill>
          </p:spPr>
        </p:sp>
        <p:sp>
          <p:nvSpPr>
            <p:cNvPr name="TextBox 16" id="16"/>
            <p:cNvSpPr txBox="true"/>
            <p:nvPr/>
          </p:nvSpPr>
          <p:spPr>
            <a:xfrm>
              <a:off x="101600" y="-38100"/>
              <a:ext cx="2821258" cy="75137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10800000">
            <a:off x="-8190782" y="8161329"/>
            <a:ext cx="11210834" cy="1273114"/>
            <a:chOff x="0" y="0"/>
            <a:chExt cx="5368038" cy="609600"/>
          </a:xfrm>
        </p:grpSpPr>
        <p:sp>
          <p:nvSpPr>
            <p:cNvPr name="Freeform 18" id="18"/>
            <p:cNvSpPr/>
            <p:nvPr/>
          </p:nvSpPr>
          <p:spPr>
            <a:xfrm flipH="false" flipV="false" rot="0">
              <a:off x="0" y="0"/>
              <a:ext cx="5368038" cy="609600"/>
            </a:xfrm>
            <a:custGeom>
              <a:avLst/>
              <a:gdLst/>
              <a:ahLst/>
              <a:cxnLst/>
              <a:rect r="r" b="b" t="t" l="l"/>
              <a:pathLst>
                <a:path h="609600" w="5368038">
                  <a:moveTo>
                    <a:pt x="5164838" y="0"/>
                  </a:moveTo>
                  <a:lnTo>
                    <a:pt x="0" y="0"/>
                  </a:lnTo>
                  <a:lnTo>
                    <a:pt x="203200" y="609600"/>
                  </a:lnTo>
                  <a:lnTo>
                    <a:pt x="5368038" y="609600"/>
                  </a:lnTo>
                  <a:lnTo>
                    <a:pt x="5164838" y="0"/>
                  </a:lnTo>
                  <a:close/>
                </a:path>
              </a:pathLst>
            </a:custGeom>
            <a:solidFill>
              <a:srgbClr val="CFA36F"/>
            </a:solidFill>
          </p:spPr>
        </p:sp>
        <p:sp>
          <p:nvSpPr>
            <p:cNvPr name="TextBox 19" id="19"/>
            <p:cNvSpPr txBox="true"/>
            <p:nvPr/>
          </p:nvSpPr>
          <p:spPr>
            <a:xfrm>
              <a:off x="101600" y="-38100"/>
              <a:ext cx="5164838"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1778036" y="3035679"/>
            <a:ext cx="2216120" cy="1205117"/>
            <a:chOff x="0" y="0"/>
            <a:chExt cx="2954827" cy="1606823"/>
          </a:xfrm>
        </p:grpSpPr>
        <p:grpSp>
          <p:nvGrpSpPr>
            <p:cNvPr name="Group 21" id="21"/>
            <p:cNvGrpSpPr/>
            <p:nvPr/>
          </p:nvGrpSpPr>
          <p:grpSpPr>
            <a:xfrm rot="0">
              <a:off x="0" y="0"/>
              <a:ext cx="2954827" cy="1606823"/>
              <a:chOff x="0" y="0"/>
              <a:chExt cx="3243855" cy="1763995"/>
            </a:xfrm>
          </p:grpSpPr>
          <p:sp>
            <p:nvSpPr>
              <p:cNvPr name="Freeform 22" id="22"/>
              <p:cNvSpPr/>
              <p:nvPr/>
            </p:nvSpPr>
            <p:spPr>
              <a:xfrm flipH="false" flipV="false" rot="0">
                <a:off x="0" y="0"/>
                <a:ext cx="3243855" cy="1763995"/>
              </a:xfrm>
              <a:custGeom>
                <a:avLst/>
                <a:gdLst/>
                <a:ahLst/>
                <a:cxnLst/>
                <a:rect r="r" b="b" t="t" l="l"/>
                <a:pathLst>
                  <a:path h="1763995" w="3243855">
                    <a:moveTo>
                      <a:pt x="11256" y="0"/>
                    </a:moveTo>
                    <a:lnTo>
                      <a:pt x="3232600" y="0"/>
                    </a:lnTo>
                    <a:cubicBezTo>
                      <a:pt x="3235585" y="0"/>
                      <a:pt x="3238448" y="1186"/>
                      <a:pt x="3240559" y="3297"/>
                    </a:cubicBezTo>
                    <a:cubicBezTo>
                      <a:pt x="3242670" y="5408"/>
                      <a:pt x="3243855" y="8271"/>
                      <a:pt x="3243855" y="11256"/>
                    </a:cubicBezTo>
                    <a:lnTo>
                      <a:pt x="3243855" y="1752739"/>
                    </a:lnTo>
                    <a:cubicBezTo>
                      <a:pt x="3243855" y="1758955"/>
                      <a:pt x="3238816" y="1763995"/>
                      <a:pt x="3232600" y="1763995"/>
                    </a:cubicBezTo>
                    <a:lnTo>
                      <a:pt x="11256" y="1763995"/>
                    </a:lnTo>
                    <a:cubicBezTo>
                      <a:pt x="5039" y="1763995"/>
                      <a:pt x="0" y="1758955"/>
                      <a:pt x="0" y="1752739"/>
                    </a:cubicBezTo>
                    <a:lnTo>
                      <a:pt x="0" y="11256"/>
                    </a:lnTo>
                    <a:cubicBezTo>
                      <a:pt x="0" y="5039"/>
                      <a:pt x="5039" y="0"/>
                      <a:pt x="11256" y="0"/>
                    </a:cubicBezTo>
                    <a:close/>
                  </a:path>
                </a:pathLst>
              </a:custGeom>
              <a:solidFill>
                <a:srgbClr val="E9E1DB"/>
              </a:solidFill>
              <a:ln w="38100" cap="sq">
                <a:solidFill>
                  <a:srgbClr val="FFFFFF"/>
                </a:solidFill>
                <a:prstDash val="solid"/>
                <a:miter/>
              </a:ln>
            </p:spPr>
          </p:sp>
          <p:sp>
            <p:nvSpPr>
              <p:cNvPr name="TextBox 23" id="23"/>
              <p:cNvSpPr txBox="true"/>
              <p:nvPr/>
            </p:nvSpPr>
            <p:spPr>
              <a:xfrm>
                <a:off x="0" y="-57150"/>
                <a:ext cx="3243855" cy="1821145"/>
              </a:xfrm>
              <a:prstGeom prst="rect">
                <a:avLst/>
              </a:prstGeom>
            </p:spPr>
            <p:txBody>
              <a:bodyPr anchor="ctr" rtlCol="false" tIns="50800" lIns="50800" bIns="50800" rIns="50800"/>
              <a:lstStyle/>
              <a:p>
                <a:pPr algn="ctr">
                  <a:lnSpc>
                    <a:spcPts val="3359"/>
                  </a:lnSpc>
                </a:pPr>
              </a:p>
            </p:txBody>
          </p:sp>
        </p:grpSp>
        <p:sp>
          <p:nvSpPr>
            <p:cNvPr name="TextBox 24" id="24"/>
            <p:cNvSpPr txBox="true"/>
            <p:nvPr/>
          </p:nvSpPr>
          <p:spPr>
            <a:xfrm rot="0">
              <a:off x="452428" y="-19050"/>
              <a:ext cx="1129485" cy="234844"/>
            </a:xfrm>
            <a:prstGeom prst="rect">
              <a:avLst/>
            </a:prstGeom>
          </p:spPr>
          <p:txBody>
            <a:bodyPr anchor="t" rtlCol="false" tIns="0" lIns="0" bIns="0" rIns="0">
              <a:spAutoFit/>
            </a:bodyPr>
            <a:lstStyle/>
            <a:p>
              <a:pPr algn="l">
                <a:lnSpc>
                  <a:spcPts val="1495"/>
                </a:lnSpc>
              </a:pPr>
            </a:p>
          </p:txBody>
        </p:sp>
      </p:grpSp>
      <p:grpSp>
        <p:nvGrpSpPr>
          <p:cNvPr name="Group 25" id="25"/>
          <p:cNvGrpSpPr/>
          <p:nvPr/>
        </p:nvGrpSpPr>
        <p:grpSpPr>
          <a:xfrm rot="0">
            <a:off x="5356231" y="3035679"/>
            <a:ext cx="2650391" cy="1205117"/>
            <a:chOff x="0" y="0"/>
            <a:chExt cx="3533855" cy="1606823"/>
          </a:xfrm>
        </p:grpSpPr>
        <p:grpSp>
          <p:nvGrpSpPr>
            <p:cNvPr name="Group 26" id="26"/>
            <p:cNvGrpSpPr/>
            <p:nvPr/>
          </p:nvGrpSpPr>
          <p:grpSpPr>
            <a:xfrm rot="0">
              <a:off x="0" y="0"/>
              <a:ext cx="3533855" cy="1606823"/>
              <a:chOff x="0" y="0"/>
              <a:chExt cx="3879521" cy="1763995"/>
            </a:xfrm>
          </p:grpSpPr>
          <p:sp>
            <p:nvSpPr>
              <p:cNvPr name="Freeform 27" id="27"/>
              <p:cNvSpPr/>
              <p:nvPr/>
            </p:nvSpPr>
            <p:spPr>
              <a:xfrm flipH="false" flipV="false" rot="0">
                <a:off x="0" y="0"/>
                <a:ext cx="3879521" cy="1763995"/>
              </a:xfrm>
              <a:custGeom>
                <a:avLst/>
                <a:gdLst/>
                <a:ahLst/>
                <a:cxnLst/>
                <a:rect r="r" b="b" t="t" l="l"/>
                <a:pathLst>
                  <a:path h="1763995" w="3879521">
                    <a:moveTo>
                      <a:pt x="9411" y="0"/>
                    </a:moveTo>
                    <a:lnTo>
                      <a:pt x="3870109" y="0"/>
                    </a:lnTo>
                    <a:cubicBezTo>
                      <a:pt x="3872605" y="0"/>
                      <a:pt x="3874999" y="992"/>
                      <a:pt x="3876764" y="2757"/>
                    </a:cubicBezTo>
                    <a:cubicBezTo>
                      <a:pt x="3878529" y="4522"/>
                      <a:pt x="3879521" y="6915"/>
                      <a:pt x="3879521" y="9411"/>
                    </a:cubicBezTo>
                    <a:lnTo>
                      <a:pt x="3879521" y="1754583"/>
                    </a:lnTo>
                    <a:cubicBezTo>
                      <a:pt x="3879521" y="1757079"/>
                      <a:pt x="3878529" y="1759473"/>
                      <a:pt x="3876764" y="1761238"/>
                    </a:cubicBezTo>
                    <a:cubicBezTo>
                      <a:pt x="3874999" y="1763003"/>
                      <a:pt x="3872605" y="1763995"/>
                      <a:pt x="3870109" y="1763995"/>
                    </a:cubicBezTo>
                    <a:lnTo>
                      <a:pt x="9411" y="1763995"/>
                    </a:lnTo>
                    <a:cubicBezTo>
                      <a:pt x="6915" y="1763995"/>
                      <a:pt x="4522" y="1763003"/>
                      <a:pt x="2757" y="1761238"/>
                    </a:cubicBezTo>
                    <a:cubicBezTo>
                      <a:pt x="992" y="1759473"/>
                      <a:pt x="0" y="1757079"/>
                      <a:pt x="0" y="1754583"/>
                    </a:cubicBezTo>
                    <a:lnTo>
                      <a:pt x="0" y="9411"/>
                    </a:lnTo>
                    <a:cubicBezTo>
                      <a:pt x="0" y="6915"/>
                      <a:pt x="992" y="4522"/>
                      <a:pt x="2757" y="2757"/>
                    </a:cubicBezTo>
                    <a:cubicBezTo>
                      <a:pt x="4522" y="992"/>
                      <a:pt x="6915" y="0"/>
                      <a:pt x="9411" y="0"/>
                    </a:cubicBezTo>
                    <a:close/>
                  </a:path>
                </a:pathLst>
              </a:custGeom>
              <a:solidFill>
                <a:srgbClr val="E9E1DB"/>
              </a:solidFill>
              <a:ln w="38100" cap="sq">
                <a:solidFill>
                  <a:srgbClr val="FFFFFF"/>
                </a:solidFill>
                <a:prstDash val="solid"/>
                <a:miter/>
              </a:ln>
            </p:spPr>
          </p:sp>
          <p:sp>
            <p:nvSpPr>
              <p:cNvPr name="TextBox 28" id="28"/>
              <p:cNvSpPr txBox="true"/>
              <p:nvPr/>
            </p:nvSpPr>
            <p:spPr>
              <a:xfrm>
                <a:off x="0" y="-57150"/>
                <a:ext cx="3879521" cy="1821145"/>
              </a:xfrm>
              <a:prstGeom prst="rect">
                <a:avLst/>
              </a:prstGeom>
            </p:spPr>
            <p:txBody>
              <a:bodyPr anchor="ctr" rtlCol="false" tIns="50800" lIns="50800" bIns="50800" rIns="50800"/>
              <a:lstStyle/>
              <a:p>
                <a:pPr algn="ctr">
                  <a:lnSpc>
                    <a:spcPts val="3359"/>
                  </a:lnSpc>
                </a:pPr>
              </a:p>
            </p:txBody>
          </p:sp>
        </p:grpSp>
        <p:sp>
          <p:nvSpPr>
            <p:cNvPr name="TextBox 29" id="29"/>
            <p:cNvSpPr txBox="true"/>
            <p:nvPr/>
          </p:nvSpPr>
          <p:spPr>
            <a:xfrm rot="0">
              <a:off x="541085" y="-19050"/>
              <a:ext cx="1350819" cy="234844"/>
            </a:xfrm>
            <a:prstGeom prst="rect">
              <a:avLst/>
            </a:prstGeom>
          </p:spPr>
          <p:txBody>
            <a:bodyPr anchor="t" rtlCol="false" tIns="0" lIns="0" bIns="0" rIns="0">
              <a:spAutoFit/>
            </a:bodyPr>
            <a:lstStyle/>
            <a:p>
              <a:pPr algn="l">
                <a:lnSpc>
                  <a:spcPts val="1495"/>
                </a:lnSpc>
              </a:pPr>
            </a:p>
          </p:txBody>
        </p:sp>
      </p:grpSp>
      <p:grpSp>
        <p:nvGrpSpPr>
          <p:cNvPr name="Group 30" id="30"/>
          <p:cNvGrpSpPr/>
          <p:nvPr/>
        </p:nvGrpSpPr>
        <p:grpSpPr>
          <a:xfrm rot="0">
            <a:off x="8971480" y="3035679"/>
            <a:ext cx="2989581" cy="1205117"/>
            <a:chOff x="0" y="0"/>
            <a:chExt cx="3986108" cy="1606823"/>
          </a:xfrm>
        </p:grpSpPr>
        <p:grpSp>
          <p:nvGrpSpPr>
            <p:cNvPr name="Group 31" id="31"/>
            <p:cNvGrpSpPr/>
            <p:nvPr/>
          </p:nvGrpSpPr>
          <p:grpSpPr>
            <a:xfrm rot="0">
              <a:off x="0" y="0"/>
              <a:ext cx="3986108" cy="1606823"/>
              <a:chOff x="0" y="0"/>
              <a:chExt cx="4376011" cy="1763995"/>
            </a:xfrm>
          </p:grpSpPr>
          <p:sp>
            <p:nvSpPr>
              <p:cNvPr name="Freeform 32" id="32"/>
              <p:cNvSpPr/>
              <p:nvPr/>
            </p:nvSpPr>
            <p:spPr>
              <a:xfrm flipH="false" flipV="false" rot="0">
                <a:off x="0" y="0"/>
                <a:ext cx="4376012" cy="1763995"/>
              </a:xfrm>
              <a:custGeom>
                <a:avLst/>
                <a:gdLst/>
                <a:ahLst/>
                <a:cxnLst/>
                <a:rect r="r" b="b" t="t" l="l"/>
                <a:pathLst>
                  <a:path h="1763995" w="4376012">
                    <a:moveTo>
                      <a:pt x="8344" y="0"/>
                    </a:moveTo>
                    <a:lnTo>
                      <a:pt x="4367668" y="0"/>
                    </a:lnTo>
                    <a:cubicBezTo>
                      <a:pt x="4369881" y="0"/>
                      <a:pt x="4372003" y="879"/>
                      <a:pt x="4373568" y="2444"/>
                    </a:cubicBezTo>
                    <a:cubicBezTo>
                      <a:pt x="4375133" y="4009"/>
                      <a:pt x="4376012" y="6131"/>
                      <a:pt x="4376012" y="8344"/>
                    </a:cubicBezTo>
                    <a:lnTo>
                      <a:pt x="4376012" y="1755651"/>
                    </a:lnTo>
                    <a:cubicBezTo>
                      <a:pt x="4376012" y="1760259"/>
                      <a:pt x="4372276" y="1763995"/>
                      <a:pt x="4367668" y="1763995"/>
                    </a:cubicBezTo>
                    <a:lnTo>
                      <a:pt x="8344" y="1763995"/>
                    </a:lnTo>
                    <a:cubicBezTo>
                      <a:pt x="3736" y="1763995"/>
                      <a:pt x="0" y="1760259"/>
                      <a:pt x="0" y="1755651"/>
                    </a:cubicBezTo>
                    <a:lnTo>
                      <a:pt x="0" y="8344"/>
                    </a:lnTo>
                    <a:cubicBezTo>
                      <a:pt x="0" y="3736"/>
                      <a:pt x="3736" y="0"/>
                      <a:pt x="8344" y="0"/>
                    </a:cubicBezTo>
                    <a:close/>
                  </a:path>
                </a:pathLst>
              </a:custGeom>
              <a:solidFill>
                <a:srgbClr val="E9E1DB"/>
              </a:solidFill>
              <a:ln w="38100" cap="sq">
                <a:solidFill>
                  <a:srgbClr val="FFFFFF"/>
                </a:solidFill>
                <a:prstDash val="solid"/>
                <a:miter/>
              </a:ln>
            </p:spPr>
          </p:sp>
          <p:sp>
            <p:nvSpPr>
              <p:cNvPr name="TextBox 33" id="33"/>
              <p:cNvSpPr txBox="true"/>
              <p:nvPr/>
            </p:nvSpPr>
            <p:spPr>
              <a:xfrm>
                <a:off x="0" y="-57150"/>
                <a:ext cx="4376011" cy="1821145"/>
              </a:xfrm>
              <a:prstGeom prst="rect">
                <a:avLst/>
              </a:prstGeom>
            </p:spPr>
            <p:txBody>
              <a:bodyPr anchor="ctr" rtlCol="false" tIns="50800" lIns="50800" bIns="50800" rIns="50800"/>
              <a:lstStyle/>
              <a:p>
                <a:pPr algn="ctr">
                  <a:lnSpc>
                    <a:spcPts val="3359"/>
                  </a:lnSpc>
                </a:pPr>
              </a:p>
            </p:txBody>
          </p:sp>
        </p:grpSp>
        <p:sp>
          <p:nvSpPr>
            <p:cNvPr name="TextBox 34" id="34"/>
            <p:cNvSpPr txBox="true"/>
            <p:nvPr/>
          </p:nvSpPr>
          <p:spPr>
            <a:xfrm rot="0">
              <a:off x="610332" y="-19050"/>
              <a:ext cx="1523693" cy="234844"/>
            </a:xfrm>
            <a:prstGeom prst="rect">
              <a:avLst/>
            </a:prstGeom>
          </p:spPr>
          <p:txBody>
            <a:bodyPr anchor="t" rtlCol="false" tIns="0" lIns="0" bIns="0" rIns="0">
              <a:spAutoFit/>
            </a:bodyPr>
            <a:lstStyle/>
            <a:p>
              <a:pPr algn="l">
                <a:lnSpc>
                  <a:spcPts val="1495"/>
                </a:lnSpc>
              </a:pPr>
            </a:p>
          </p:txBody>
        </p:sp>
      </p:grpSp>
      <p:grpSp>
        <p:nvGrpSpPr>
          <p:cNvPr name="Group 35" id="35"/>
          <p:cNvGrpSpPr/>
          <p:nvPr/>
        </p:nvGrpSpPr>
        <p:grpSpPr>
          <a:xfrm rot="0">
            <a:off x="3335816" y="4746948"/>
            <a:ext cx="5869412" cy="2195726"/>
            <a:chOff x="0" y="0"/>
            <a:chExt cx="7825882" cy="2927634"/>
          </a:xfrm>
        </p:grpSpPr>
        <p:grpSp>
          <p:nvGrpSpPr>
            <p:cNvPr name="Group 36" id="36"/>
            <p:cNvGrpSpPr/>
            <p:nvPr/>
          </p:nvGrpSpPr>
          <p:grpSpPr>
            <a:xfrm rot="0">
              <a:off x="0" y="0"/>
              <a:ext cx="7825882" cy="2927634"/>
              <a:chOff x="0" y="0"/>
              <a:chExt cx="1456897" cy="545020"/>
            </a:xfrm>
          </p:grpSpPr>
          <p:sp>
            <p:nvSpPr>
              <p:cNvPr name="Freeform 37" id="37"/>
              <p:cNvSpPr/>
              <p:nvPr/>
            </p:nvSpPr>
            <p:spPr>
              <a:xfrm flipH="false" flipV="false" rot="0">
                <a:off x="0" y="0"/>
                <a:ext cx="1456897" cy="545020"/>
              </a:xfrm>
              <a:custGeom>
                <a:avLst/>
                <a:gdLst/>
                <a:ahLst/>
                <a:cxnLst/>
                <a:rect r="r" b="b" t="t" l="l"/>
                <a:pathLst>
                  <a:path h="545020" w="1456897">
                    <a:moveTo>
                      <a:pt x="0" y="0"/>
                    </a:moveTo>
                    <a:lnTo>
                      <a:pt x="1456897" y="0"/>
                    </a:lnTo>
                    <a:lnTo>
                      <a:pt x="1456897" y="545020"/>
                    </a:lnTo>
                    <a:lnTo>
                      <a:pt x="0" y="545020"/>
                    </a:lnTo>
                    <a:close/>
                  </a:path>
                </a:pathLst>
              </a:custGeom>
              <a:solidFill>
                <a:srgbClr val="3D3735"/>
              </a:solidFill>
              <a:ln cap="sq">
                <a:noFill/>
                <a:prstDash val="solid"/>
                <a:miter/>
              </a:ln>
            </p:spPr>
          </p:sp>
          <p:sp>
            <p:nvSpPr>
              <p:cNvPr name="TextBox 38" id="38"/>
              <p:cNvSpPr txBox="true"/>
              <p:nvPr/>
            </p:nvSpPr>
            <p:spPr>
              <a:xfrm>
                <a:off x="0" y="-57150"/>
                <a:ext cx="1456897" cy="602170"/>
              </a:xfrm>
              <a:prstGeom prst="rect">
                <a:avLst/>
              </a:prstGeom>
            </p:spPr>
            <p:txBody>
              <a:bodyPr anchor="ctr" rtlCol="false" tIns="50800" lIns="50800" bIns="50800" rIns="50800"/>
              <a:lstStyle/>
              <a:p>
                <a:pPr algn="ctr">
                  <a:lnSpc>
                    <a:spcPts val="3359"/>
                  </a:lnSpc>
                </a:pPr>
              </a:p>
            </p:txBody>
          </p:sp>
        </p:grpSp>
        <p:sp>
          <p:nvSpPr>
            <p:cNvPr name="TextBox 39" id="39"/>
            <p:cNvSpPr txBox="true"/>
            <p:nvPr/>
          </p:nvSpPr>
          <p:spPr>
            <a:xfrm rot="0">
              <a:off x="1488303" y="68729"/>
              <a:ext cx="5177913" cy="1405894"/>
            </a:xfrm>
            <a:prstGeom prst="rect">
              <a:avLst/>
            </a:prstGeom>
          </p:spPr>
          <p:txBody>
            <a:bodyPr anchor="t" rtlCol="false" tIns="0" lIns="0" bIns="0" rIns="0">
              <a:spAutoFit/>
            </a:bodyPr>
            <a:lstStyle/>
            <a:p>
              <a:pPr algn="l">
                <a:lnSpc>
                  <a:spcPts val="8819"/>
                </a:lnSpc>
              </a:pPr>
              <a:r>
                <a:rPr lang="en-US" sz="6299">
                  <a:solidFill>
                    <a:srgbClr val="E9E1DB"/>
                  </a:solidFill>
                  <a:latin typeface="Glacial Indifference"/>
                  <a:ea typeface="Glacial Indifference"/>
                  <a:cs typeface="Glacial Indifference"/>
                  <a:sym typeface="Glacial Indifference"/>
                </a:rPr>
                <a:t>USD</a:t>
              </a:r>
              <a:r>
                <a:rPr lang="en-US" sz="6299">
                  <a:solidFill>
                    <a:srgbClr val="E9E1DB"/>
                  </a:solidFill>
                  <a:latin typeface="Glacial Indifference"/>
                  <a:ea typeface="Glacial Indifference"/>
                  <a:cs typeface="Glacial Indifference"/>
                  <a:sym typeface="Glacial Indifference"/>
                </a:rPr>
                <a:t> 14.2B</a:t>
              </a:r>
            </a:p>
          </p:txBody>
        </p:sp>
      </p:grpSp>
      <p:sp>
        <p:nvSpPr>
          <p:cNvPr name="Freeform 40" id="40"/>
          <p:cNvSpPr/>
          <p:nvPr/>
        </p:nvSpPr>
        <p:spPr>
          <a:xfrm flipH="false" flipV="false" rot="2414451">
            <a:off x="8999810" y="4729401"/>
            <a:ext cx="1439702" cy="615145"/>
          </a:xfrm>
          <a:custGeom>
            <a:avLst/>
            <a:gdLst/>
            <a:ahLst/>
            <a:cxnLst/>
            <a:rect r="r" b="b" t="t" l="l"/>
            <a:pathLst>
              <a:path h="615145" w="1439702">
                <a:moveTo>
                  <a:pt x="0" y="0"/>
                </a:moveTo>
                <a:lnTo>
                  <a:pt x="1439702" y="0"/>
                </a:lnTo>
                <a:lnTo>
                  <a:pt x="1439702" y="615145"/>
                </a:lnTo>
                <a:lnTo>
                  <a:pt x="0" y="6151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1" id="41"/>
          <p:cNvSpPr txBox="true"/>
          <p:nvPr/>
        </p:nvSpPr>
        <p:spPr>
          <a:xfrm rot="0">
            <a:off x="3569563" y="5827953"/>
            <a:ext cx="5401917" cy="834390"/>
          </a:xfrm>
          <a:prstGeom prst="rect">
            <a:avLst/>
          </a:prstGeom>
        </p:spPr>
        <p:txBody>
          <a:bodyPr anchor="t" rtlCol="false" tIns="0" lIns="0" bIns="0" rIns="0">
            <a:spAutoFit/>
          </a:bodyPr>
          <a:lstStyle/>
          <a:p>
            <a:pPr algn="ctr">
              <a:lnSpc>
                <a:spcPts val="3359"/>
              </a:lnSpc>
              <a:spcBef>
                <a:spcPct val="0"/>
              </a:spcBef>
            </a:pPr>
            <a:r>
              <a:rPr lang="en-US" b="true" sz="2400">
                <a:solidFill>
                  <a:srgbClr val="E9E1DB"/>
                </a:solidFill>
                <a:latin typeface="Glacial Indifference Bold"/>
                <a:ea typeface="Glacial Indifference Bold"/>
                <a:cs typeface="Glacial Indifference Bold"/>
                <a:sym typeface="Glacial Indifference Bold"/>
              </a:rPr>
              <a:t>INFORMAL ECONOMY LOCKED OUT OF FORMAL CREDIT IN ZIMBABWE</a:t>
            </a:r>
          </a:p>
        </p:txBody>
      </p:sp>
      <p:sp>
        <p:nvSpPr>
          <p:cNvPr name="TextBox 42" id="42"/>
          <p:cNvSpPr txBox="true"/>
          <p:nvPr/>
        </p:nvSpPr>
        <p:spPr>
          <a:xfrm rot="0">
            <a:off x="5146267" y="7822526"/>
            <a:ext cx="2518419" cy="1893570"/>
          </a:xfrm>
          <a:prstGeom prst="rect">
            <a:avLst/>
          </a:prstGeom>
        </p:spPr>
        <p:txBody>
          <a:bodyPr anchor="t" rtlCol="false" tIns="0" lIns="0" bIns="0" rIns="0">
            <a:spAutoFit/>
          </a:bodyPr>
          <a:lstStyle/>
          <a:p>
            <a:pPr algn="ctr">
              <a:lnSpc>
                <a:spcPts val="3779"/>
              </a:lnSpc>
            </a:pPr>
            <a:r>
              <a:rPr lang="en-US" sz="2699" b="true">
                <a:solidFill>
                  <a:srgbClr val="503C2D"/>
                </a:solidFill>
                <a:latin typeface="Glacial Indifference Bold"/>
                <a:ea typeface="Glacial Indifference Bold"/>
                <a:cs typeface="Glacial Indifference Bold"/>
                <a:sym typeface="Glacial Indifference Bold"/>
              </a:rPr>
              <a:t>Access loans from USD 50 → mortgage</a:t>
            </a:r>
          </a:p>
          <a:p>
            <a:pPr algn="ctr">
              <a:lnSpc>
                <a:spcPts val="3779"/>
              </a:lnSpc>
            </a:pPr>
          </a:p>
        </p:txBody>
      </p:sp>
      <p:sp>
        <p:nvSpPr>
          <p:cNvPr name="TextBox 43" id="43"/>
          <p:cNvSpPr txBox="true"/>
          <p:nvPr/>
        </p:nvSpPr>
        <p:spPr>
          <a:xfrm rot="0">
            <a:off x="301916" y="5692871"/>
            <a:ext cx="2584180" cy="1253490"/>
          </a:xfrm>
          <a:prstGeom prst="rect">
            <a:avLst/>
          </a:prstGeom>
        </p:spPr>
        <p:txBody>
          <a:bodyPr anchor="t" rtlCol="false" tIns="0" lIns="0" bIns="0" rIns="0">
            <a:spAutoFit/>
          </a:bodyPr>
          <a:lstStyle/>
          <a:p>
            <a:pPr algn="ctr">
              <a:lnSpc>
                <a:spcPts val="3359"/>
              </a:lnSpc>
              <a:spcBef>
                <a:spcPct val="0"/>
              </a:spcBef>
            </a:pPr>
            <a:r>
              <a:rPr lang="en-US" b="true" sz="2400">
                <a:solidFill>
                  <a:srgbClr val="503C2D"/>
                </a:solidFill>
                <a:latin typeface="Glacial Indifference Bold"/>
                <a:ea typeface="Glacial Indifference Bold"/>
                <a:cs typeface="Glacial Indifference Bold"/>
                <a:sym typeface="Glacial Indifference Bold"/>
              </a:rPr>
              <a:t>BUILD CREDIT FROM DAILY TRANSACTIONS</a:t>
            </a:r>
          </a:p>
        </p:txBody>
      </p:sp>
      <p:sp>
        <p:nvSpPr>
          <p:cNvPr name="Freeform 44" id="44"/>
          <p:cNvSpPr/>
          <p:nvPr/>
        </p:nvSpPr>
        <p:spPr>
          <a:xfrm flipH="false" flipV="false" rot="-9944331">
            <a:off x="1878545" y="6500909"/>
            <a:ext cx="2700487" cy="1153845"/>
          </a:xfrm>
          <a:custGeom>
            <a:avLst/>
            <a:gdLst/>
            <a:ahLst/>
            <a:cxnLst/>
            <a:rect r="r" b="b" t="t" l="l"/>
            <a:pathLst>
              <a:path h="1153845" w="2700487">
                <a:moveTo>
                  <a:pt x="0" y="0"/>
                </a:moveTo>
                <a:lnTo>
                  <a:pt x="2700488" y="0"/>
                </a:lnTo>
                <a:lnTo>
                  <a:pt x="2700488" y="1153845"/>
                </a:lnTo>
                <a:lnTo>
                  <a:pt x="0" y="11538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5" id="45"/>
          <p:cNvSpPr/>
          <p:nvPr/>
        </p:nvSpPr>
        <p:spPr>
          <a:xfrm flipH="false" flipV="false" rot="8569294">
            <a:off x="7206668" y="7117676"/>
            <a:ext cx="1985155" cy="848202"/>
          </a:xfrm>
          <a:custGeom>
            <a:avLst/>
            <a:gdLst/>
            <a:ahLst/>
            <a:cxnLst/>
            <a:rect r="r" b="b" t="t" l="l"/>
            <a:pathLst>
              <a:path h="848202" w="1985155">
                <a:moveTo>
                  <a:pt x="0" y="0"/>
                </a:moveTo>
                <a:lnTo>
                  <a:pt x="1985155" y="0"/>
                </a:lnTo>
                <a:lnTo>
                  <a:pt x="1985155" y="848203"/>
                </a:lnTo>
                <a:lnTo>
                  <a:pt x="0" y="84820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6" id="46"/>
          <p:cNvSpPr txBox="true"/>
          <p:nvPr/>
        </p:nvSpPr>
        <p:spPr>
          <a:xfrm rot="0">
            <a:off x="2102802" y="3117732"/>
            <a:ext cx="2665431" cy="1417320"/>
          </a:xfrm>
          <a:prstGeom prst="rect">
            <a:avLst/>
          </a:prstGeom>
        </p:spPr>
        <p:txBody>
          <a:bodyPr anchor="t" rtlCol="false" tIns="0" lIns="0" bIns="0" rIns="0">
            <a:spAutoFit/>
          </a:bodyPr>
          <a:lstStyle/>
          <a:p>
            <a:pPr algn="just">
              <a:lnSpc>
                <a:spcPts val="3779"/>
              </a:lnSpc>
            </a:pPr>
            <a:r>
              <a:rPr lang="en-US" sz="2699" b="true">
                <a:solidFill>
                  <a:srgbClr val="66574D"/>
                </a:solidFill>
                <a:latin typeface="Glacial Indifference Bold"/>
                <a:ea typeface="Glacial Indifference Bold"/>
                <a:cs typeface="Glacial Indifference Bold"/>
                <a:sym typeface="Glacial Indifference Bold"/>
              </a:rPr>
              <a:t>Zero-Fee Banking</a:t>
            </a:r>
          </a:p>
          <a:p>
            <a:pPr algn="just">
              <a:lnSpc>
                <a:spcPts val="3779"/>
              </a:lnSpc>
            </a:pPr>
          </a:p>
        </p:txBody>
      </p:sp>
      <p:sp>
        <p:nvSpPr>
          <p:cNvPr name="TextBox 47" id="47"/>
          <p:cNvSpPr txBox="true"/>
          <p:nvPr/>
        </p:nvSpPr>
        <p:spPr>
          <a:xfrm rot="0">
            <a:off x="5632354" y="3086811"/>
            <a:ext cx="2405677" cy="941070"/>
          </a:xfrm>
          <a:prstGeom prst="rect">
            <a:avLst/>
          </a:prstGeom>
        </p:spPr>
        <p:txBody>
          <a:bodyPr anchor="t" rtlCol="false" tIns="0" lIns="0" bIns="0" rIns="0">
            <a:spAutoFit/>
          </a:bodyPr>
          <a:lstStyle/>
          <a:p>
            <a:pPr algn="just">
              <a:lnSpc>
                <a:spcPts val="3779"/>
              </a:lnSpc>
            </a:pPr>
            <a:r>
              <a:rPr lang="en-US" sz="2699" b="true">
                <a:solidFill>
                  <a:srgbClr val="66574D"/>
                </a:solidFill>
                <a:latin typeface="Glacial Indifference Bold"/>
                <a:ea typeface="Glacial Indifference Bold"/>
                <a:cs typeface="Glacial Indifference Bold"/>
                <a:sym typeface="Glacial Indifference Bold"/>
              </a:rPr>
              <a:t>Behavior-Based Credit</a:t>
            </a:r>
          </a:p>
        </p:txBody>
      </p:sp>
      <p:sp>
        <p:nvSpPr>
          <p:cNvPr name="TextBox 48" id="48"/>
          <p:cNvSpPr txBox="true"/>
          <p:nvPr/>
        </p:nvSpPr>
        <p:spPr>
          <a:xfrm rot="0">
            <a:off x="2546662" y="796299"/>
            <a:ext cx="7447720" cy="1176096"/>
          </a:xfrm>
          <a:prstGeom prst="rect">
            <a:avLst/>
          </a:prstGeom>
        </p:spPr>
        <p:txBody>
          <a:bodyPr anchor="t" rtlCol="false" tIns="0" lIns="0" bIns="0" rIns="0">
            <a:spAutoFit/>
          </a:bodyPr>
          <a:lstStyle/>
          <a:p>
            <a:pPr algn="just">
              <a:lnSpc>
                <a:spcPts val="9610"/>
              </a:lnSpc>
            </a:pPr>
            <a:r>
              <a:rPr lang="en-US" sz="6864">
                <a:solidFill>
                  <a:srgbClr val="66574D"/>
                </a:solidFill>
                <a:latin typeface="League Spartan"/>
                <a:ea typeface="League Spartan"/>
                <a:cs typeface="League Spartan"/>
                <a:sym typeface="League Spartan"/>
              </a:rPr>
              <a:t>WHAT IS PCUB ? </a:t>
            </a:r>
          </a:p>
        </p:txBody>
      </p:sp>
      <p:sp>
        <p:nvSpPr>
          <p:cNvPr name="TextBox 49" id="49"/>
          <p:cNvSpPr txBox="true"/>
          <p:nvPr/>
        </p:nvSpPr>
        <p:spPr>
          <a:xfrm rot="0">
            <a:off x="1297979" y="2014296"/>
            <a:ext cx="10766895" cy="834390"/>
          </a:xfrm>
          <a:prstGeom prst="rect">
            <a:avLst/>
          </a:prstGeom>
        </p:spPr>
        <p:txBody>
          <a:bodyPr anchor="t" rtlCol="false" tIns="0" lIns="0" bIns="0" rIns="0">
            <a:spAutoFit/>
          </a:bodyPr>
          <a:lstStyle/>
          <a:p>
            <a:pPr algn="l" marL="0" indent="0" lvl="0">
              <a:lnSpc>
                <a:spcPts val="3359"/>
              </a:lnSpc>
            </a:pPr>
            <a:r>
              <a:rPr lang="en-US" b="true" sz="2400">
                <a:solidFill>
                  <a:srgbClr val="66574D"/>
                </a:solidFill>
                <a:latin typeface="Glacial Indifference Bold"/>
                <a:ea typeface="Glacial Indifference Bold"/>
                <a:cs typeface="Glacial Indifference Bold"/>
                <a:sym typeface="Glacial Indifference Bold"/>
              </a:rPr>
              <a:t>BANKING FOR ZIMBABW</a:t>
            </a:r>
            <a:r>
              <a:rPr lang="en-US" b="true" sz="2400">
                <a:solidFill>
                  <a:srgbClr val="66574D"/>
                </a:solidFill>
                <a:latin typeface="Glacial Indifference Bold"/>
                <a:ea typeface="Glacial Indifference Bold"/>
                <a:cs typeface="Glacial Indifference Bold"/>
                <a:sym typeface="Glacial Indifference Bold"/>
              </a:rPr>
              <a:t>E'S 80% : THE PEOPLE FORMAL BANKS LEFT BEHIND.</a:t>
            </a:r>
          </a:p>
          <a:p>
            <a:pPr algn="l">
              <a:lnSpc>
                <a:spcPts val="3359"/>
              </a:lnSpc>
            </a:pPr>
          </a:p>
        </p:txBody>
      </p:sp>
      <p:sp>
        <p:nvSpPr>
          <p:cNvPr name="TextBox 50" id="50"/>
          <p:cNvSpPr txBox="true"/>
          <p:nvPr/>
        </p:nvSpPr>
        <p:spPr>
          <a:xfrm rot="0">
            <a:off x="9249300" y="3098682"/>
            <a:ext cx="2433943" cy="1417320"/>
          </a:xfrm>
          <a:prstGeom prst="rect">
            <a:avLst/>
          </a:prstGeom>
        </p:spPr>
        <p:txBody>
          <a:bodyPr anchor="t" rtlCol="false" tIns="0" lIns="0" bIns="0" rIns="0">
            <a:spAutoFit/>
          </a:bodyPr>
          <a:lstStyle/>
          <a:p>
            <a:pPr algn="just">
              <a:lnSpc>
                <a:spcPts val="3779"/>
              </a:lnSpc>
            </a:pPr>
            <a:r>
              <a:rPr lang="en-US" sz="2699" b="true">
                <a:solidFill>
                  <a:srgbClr val="66574D"/>
                </a:solidFill>
                <a:latin typeface="Glacial Indifference Bold"/>
                <a:ea typeface="Glacial Indifference Bold"/>
                <a:cs typeface="Glacial Indifference Bold"/>
                <a:sym typeface="Glacial Indifference Bold"/>
              </a:rPr>
              <a:t>Branch-Light Digital Access</a:t>
            </a:r>
          </a:p>
          <a:p>
            <a:pPr algn="just">
              <a:lnSpc>
                <a:spcPts val="3779"/>
              </a:lnSpc>
            </a:pPr>
          </a:p>
        </p:txBody>
      </p:sp>
      <p:sp>
        <p:nvSpPr>
          <p:cNvPr name="TextBox 51" id="51"/>
          <p:cNvSpPr txBox="true"/>
          <p:nvPr/>
        </p:nvSpPr>
        <p:spPr>
          <a:xfrm rot="0">
            <a:off x="12618501" y="7301062"/>
            <a:ext cx="9515321" cy="415290"/>
          </a:xfrm>
          <a:prstGeom prst="rect">
            <a:avLst/>
          </a:prstGeom>
        </p:spPr>
        <p:txBody>
          <a:bodyPr anchor="t" rtlCol="false" tIns="0" lIns="0" bIns="0" rIns="0">
            <a:spAutoFit/>
          </a:bodyPr>
          <a:lstStyle/>
          <a:p>
            <a:pPr algn="l">
              <a:lnSpc>
                <a:spcPts val="3359"/>
              </a:lnSpc>
            </a:pPr>
            <a:r>
              <a:rPr lang="en-US" b="true" sz="2400">
                <a:solidFill>
                  <a:srgbClr val="66574D"/>
                </a:solidFill>
                <a:latin typeface="Glacial Indifference Bold"/>
                <a:ea typeface="Glacial Indifference Bold"/>
                <a:cs typeface="Glacial Indifference Bold"/>
                <a:sym typeface="Glacial Indifference Bold"/>
              </a:rPr>
              <a:t>BUILT FOR YOU. OWNED BY YOU. </a:t>
            </a:r>
          </a:p>
        </p:txBody>
      </p:sp>
      <p:sp>
        <p:nvSpPr>
          <p:cNvPr name="TextBox 52" id="52"/>
          <p:cNvSpPr txBox="true"/>
          <p:nvPr/>
        </p:nvSpPr>
        <p:spPr>
          <a:xfrm rot="0">
            <a:off x="9550522" y="5408853"/>
            <a:ext cx="2596753" cy="1253490"/>
          </a:xfrm>
          <a:prstGeom prst="rect">
            <a:avLst/>
          </a:prstGeom>
        </p:spPr>
        <p:txBody>
          <a:bodyPr anchor="t" rtlCol="false" tIns="0" lIns="0" bIns="0" rIns="0">
            <a:spAutoFit/>
          </a:bodyPr>
          <a:lstStyle/>
          <a:p>
            <a:pPr algn="ctr">
              <a:lnSpc>
                <a:spcPts val="3359"/>
              </a:lnSpc>
              <a:spcBef>
                <a:spcPct val="0"/>
              </a:spcBef>
            </a:pPr>
            <a:r>
              <a:rPr lang="en-US" b="true" sz="2400">
                <a:solidFill>
                  <a:srgbClr val="503C2D"/>
                </a:solidFill>
                <a:latin typeface="Glacial Indifference Bold"/>
                <a:ea typeface="Glacial Indifference Bold"/>
                <a:cs typeface="Glacial Indifference Bold"/>
                <a:sym typeface="Glacial Indifference Bold"/>
              </a:rPr>
              <a:t>JOIN VIA MOBILE OR KIOSK (&lt; 15 MIN)</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9E1DB"/>
        </a:solidFill>
      </p:bgPr>
    </p:bg>
    <p:spTree>
      <p:nvGrpSpPr>
        <p:cNvPr id="1" name=""/>
        <p:cNvGrpSpPr/>
        <p:nvPr/>
      </p:nvGrpSpPr>
      <p:grpSpPr>
        <a:xfrm>
          <a:off x="0" y="0"/>
          <a:ext cx="0" cy="0"/>
          <a:chOff x="0" y="0"/>
          <a:chExt cx="0" cy="0"/>
        </a:xfrm>
      </p:grpSpPr>
      <p:grpSp>
        <p:nvGrpSpPr>
          <p:cNvPr name="Group 2" id="2"/>
          <p:cNvGrpSpPr/>
          <p:nvPr/>
        </p:nvGrpSpPr>
        <p:grpSpPr>
          <a:xfrm rot="0">
            <a:off x="-2348166" y="4688816"/>
            <a:ext cx="3086100" cy="6430987"/>
            <a:chOff x="0" y="0"/>
            <a:chExt cx="812800" cy="1693758"/>
          </a:xfrm>
        </p:grpSpPr>
        <p:sp>
          <p:nvSpPr>
            <p:cNvPr name="Freeform 3" id="3"/>
            <p:cNvSpPr/>
            <p:nvPr/>
          </p:nvSpPr>
          <p:spPr>
            <a:xfrm flipH="false" flipV="false" rot="0">
              <a:off x="0" y="0"/>
              <a:ext cx="812800" cy="1693758"/>
            </a:xfrm>
            <a:custGeom>
              <a:avLst/>
              <a:gdLst/>
              <a:ahLst/>
              <a:cxnLst/>
              <a:rect r="r" b="b" t="t" l="l"/>
              <a:pathLst>
                <a:path h="1693758" w="812800">
                  <a:moveTo>
                    <a:pt x="47664" y="0"/>
                  </a:moveTo>
                  <a:lnTo>
                    <a:pt x="765136" y="0"/>
                  </a:lnTo>
                  <a:cubicBezTo>
                    <a:pt x="791460" y="0"/>
                    <a:pt x="812800" y="21340"/>
                    <a:pt x="812800" y="47664"/>
                  </a:cubicBezTo>
                  <a:lnTo>
                    <a:pt x="812800" y="1646094"/>
                  </a:lnTo>
                  <a:cubicBezTo>
                    <a:pt x="812800" y="1672418"/>
                    <a:pt x="791460" y="1693758"/>
                    <a:pt x="765136" y="1693758"/>
                  </a:cubicBezTo>
                  <a:lnTo>
                    <a:pt x="47664" y="1693758"/>
                  </a:lnTo>
                  <a:cubicBezTo>
                    <a:pt x="35023" y="1693758"/>
                    <a:pt x="22899" y="1688736"/>
                    <a:pt x="13961" y="1679797"/>
                  </a:cubicBezTo>
                  <a:cubicBezTo>
                    <a:pt x="5022" y="1670858"/>
                    <a:pt x="0" y="1658735"/>
                    <a:pt x="0" y="1646094"/>
                  </a:cubicBezTo>
                  <a:lnTo>
                    <a:pt x="0" y="47664"/>
                  </a:lnTo>
                  <a:cubicBezTo>
                    <a:pt x="0" y="21340"/>
                    <a:pt x="21340" y="0"/>
                    <a:pt x="47664" y="0"/>
                  </a:cubicBezTo>
                  <a:close/>
                </a:path>
              </a:pathLst>
            </a:custGeom>
            <a:solidFill>
              <a:srgbClr val="66574D"/>
            </a:solidFill>
          </p:spPr>
        </p:sp>
        <p:sp>
          <p:nvSpPr>
            <p:cNvPr name="TextBox 4" id="4"/>
            <p:cNvSpPr txBox="true"/>
            <p:nvPr/>
          </p:nvSpPr>
          <p:spPr>
            <a:xfrm>
              <a:off x="0" y="-57150"/>
              <a:ext cx="812800" cy="1750908"/>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497173" y="3028719"/>
            <a:ext cx="4804754" cy="5984253"/>
            <a:chOff x="0" y="0"/>
            <a:chExt cx="6406339" cy="7979003"/>
          </a:xfrm>
        </p:grpSpPr>
        <p:grpSp>
          <p:nvGrpSpPr>
            <p:cNvPr name="Group 6" id="6"/>
            <p:cNvGrpSpPr/>
            <p:nvPr/>
          </p:nvGrpSpPr>
          <p:grpSpPr>
            <a:xfrm rot="0">
              <a:off x="0" y="2473780"/>
              <a:ext cx="6406339" cy="5505224"/>
              <a:chOff x="0" y="0"/>
              <a:chExt cx="1452122" cy="1247867"/>
            </a:xfrm>
          </p:grpSpPr>
          <p:sp>
            <p:nvSpPr>
              <p:cNvPr name="Freeform 7" id="7"/>
              <p:cNvSpPr/>
              <p:nvPr/>
            </p:nvSpPr>
            <p:spPr>
              <a:xfrm flipH="false" flipV="false" rot="0">
                <a:off x="0" y="0"/>
                <a:ext cx="1452122" cy="1247867"/>
              </a:xfrm>
              <a:custGeom>
                <a:avLst/>
                <a:gdLst/>
                <a:ahLst/>
                <a:cxnLst/>
                <a:rect r="r" b="b" t="t" l="l"/>
                <a:pathLst>
                  <a:path h="1247867" w="1452122">
                    <a:moveTo>
                      <a:pt x="25144" y="0"/>
                    </a:moveTo>
                    <a:lnTo>
                      <a:pt x="1426978" y="0"/>
                    </a:lnTo>
                    <a:cubicBezTo>
                      <a:pt x="1433647" y="0"/>
                      <a:pt x="1440042" y="2649"/>
                      <a:pt x="1444758" y="7364"/>
                    </a:cubicBezTo>
                    <a:cubicBezTo>
                      <a:pt x="1449473" y="12080"/>
                      <a:pt x="1452122" y="18475"/>
                      <a:pt x="1452122" y="25144"/>
                    </a:cubicBezTo>
                    <a:lnTo>
                      <a:pt x="1452122" y="1222723"/>
                    </a:lnTo>
                    <a:cubicBezTo>
                      <a:pt x="1452122" y="1229391"/>
                      <a:pt x="1449473" y="1235787"/>
                      <a:pt x="1444758" y="1240502"/>
                    </a:cubicBezTo>
                    <a:cubicBezTo>
                      <a:pt x="1440042" y="1245218"/>
                      <a:pt x="1433647" y="1247867"/>
                      <a:pt x="1426978" y="1247867"/>
                    </a:cubicBezTo>
                    <a:lnTo>
                      <a:pt x="25144" y="1247867"/>
                    </a:lnTo>
                    <a:cubicBezTo>
                      <a:pt x="18475" y="1247867"/>
                      <a:pt x="12080" y="1245218"/>
                      <a:pt x="7364" y="1240502"/>
                    </a:cubicBezTo>
                    <a:cubicBezTo>
                      <a:pt x="2649" y="1235787"/>
                      <a:pt x="0" y="1229391"/>
                      <a:pt x="0" y="1222723"/>
                    </a:cubicBezTo>
                    <a:lnTo>
                      <a:pt x="0" y="25144"/>
                    </a:lnTo>
                    <a:cubicBezTo>
                      <a:pt x="0" y="18475"/>
                      <a:pt x="2649" y="12080"/>
                      <a:pt x="7364" y="7364"/>
                    </a:cubicBezTo>
                    <a:cubicBezTo>
                      <a:pt x="12080" y="2649"/>
                      <a:pt x="18475" y="0"/>
                      <a:pt x="25144" y="0"/>
                    </a:cubicBezTo>
                    <a:close/>
                  </a:path>
                </a:pathLst>
              </a:custGeom>
              <a:solidFill>
                <a:srgbClr val="E9E1DB"/>
              </a:solidFill>
              <a:ln w="38100" cap="sq">
                <a:solidFill>
                  <a:srgbClr val="FFFFFF"/>
                </a:solidFill>
                <a:prstDash val="solid"/>
                <a:miter/>
              </a:ln>
            </p:spPr>
          </p:sp>
          <p:sp>
            <p:nvSpPr>
              <p:cNvPr name="TextBox 8" id="8"/>
              <p:cNvSpPr txBox="true"/>
              <p:nvPr/>
            </p:nvSpPr>
            <p:spPr>
              <a:xfrm>
                <a:off x="0" y="-57150"/>
                <a:ext cx="1452122" cy="1305017"/>
              </a:xfrm>
              <a:prstGeom prst="rect">
                <a:avLst/>
              </a:prstGeom>
            </p:spPr>
            <p:txBody>
              <a:bodyPr anchor="ctr" rtlCol="false" tIns="50800" lIns="50800" bIns="50800" rIns="50800"/>
              <a:lstStyle/>
              <a:p>
                <a:pPr algn="ctr">
                  <a:lnSpc>
                    <a:spcPts val="3360"/>
                  </a:lnSpc>
                </a:pPr>
              </a:p>
            </p:txBody>
          </p:sp>
        </p:grpSp>
        <p:sp>
          <p:nvSpPr>
            <p:cNvPr name="TextBox 9" id="9"/>
            <p:cNvSpPr txBox="true"/>
            <p:nvPr/>
          </p:nvSpPr>
          <p:spPr>
            <a:xfrm rot="0">
              <a:off x="754341" y="-104775"/>
              <a:ext cx="2448828" cy="1149917"/>
            </a:xfrm>
            <a:prstGeom prst="rect">
              <a:avLst/>
            </a:prstGeom>
          </p:spPr>
          <p:txBody>
            <a:bodyPr anchor="t" rtlCol="false" tIns="0" lIns="0" bIns="0" rIns="0">
              <a:spAutoFit/>
            </a:bodyPr>
            <a:lstStyle/>
            <a:p>
              <a:pPr algn="l">
                <a:lnSpc>
                  <a:spcPts val="7243"/>
                </a:lnSpc>
              </a:pPr>
            </a:p>
          </p:txBody>
        </p:sp>
      </p:grpSp>
      <p:sp>
        <p:nvSpPr>
          <p:cNvPr name="TextBox 10" id="10"/>
          <p:cNvSpPr txBox="true"/>
          <p:nvPr/>
        </p:nvSpPr>
        <p:spPr>
          <a:xfrm rot="0">
            <a:off x="539892" y="5086350"/>
            <a:ext cx="4292321" cy="3768090"/>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Market traders  (5K/day)</a:t>
            </a:r>
          </a:p>
          <a:p>
            <a:pPr algn="l">
              <a:lnSpc>
                <a:spcPts val="3359"/>
              </a:lnSpc>
            </a:pPr>
          </a:p>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Welders &amp; manufacturers</a:t>
            </a:r>
          </a:p>
          <a:p>
            <a:pPr algn="l">
              <a:lnSpc>
                <a:spcPts val="3359"/>
              </a:lnSpc>
            </a:pPr>
          </a:p>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drivers, Resellers</a:t>
            </a:r>
          </a:p>
          <a:p>
            <a:pPr algn="l">
              <a:lnSpc>
                <a:spcPts val="3359"/>
              </a:lnSpc>
            </a:pPr>
          </a:p>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Earn real income-denied banking for lack of paperwork</a:t>
            </a:r>
          </a:p>
        </p:txBody>
      </p:sp>
      <p:sp>
        <p:nvSpPr>
          <p:cNvPr name="TextBox 11" id="11"/>
          <p:cNvSpPr txBox="true"/>
          <p:nvPr/>
        </p:nvSpPr>
        <p:spPr>
          <a:xfrm rot="0">
            <a:off x="1429070" y="895350"/>
            <a:ext cx="15429861" cy="1178189"/>
          </a:xfrm>
          <a:prstGeom prst="rect">
            <a:avLst/>
          </a:prstGeom>
        </p:spPr>
        <p:txBody>
          <a:bodyPr anchor="t" rtlCol="false" tIns="0" lIns="0" bIns="0" rIns="0">
            <a:spAutoFit/>
          </a:bodyPr>
          <a:lstStyle/>
          <a:p>
            <a:pPr algn="ctr">
              <a:lnSpc>
                <a:spcPts val="9610"/>
              </a:lnSpc>
            </a:pPr>
            <a:r>
              <a:rPr lang="en-US" sz="6864">
                <a:solidFill>
                  <a:srgbClr val="66574D"/>
                </a:solidFill>
                <a:latin typeface="League Spartan"/>
                <a:ea typeface="League Spartan"/>
                <a:cs typeface="League Spartan"/>
                <a:sym typeface="League Spartan"/>
              </a:rPr>
              <a:t>TARGET AUDIENCE</a:t>
            </a:r>
          </a:p>
        </p:txBody>
      </p:sp>
      <p:sp>
        <p:nvSpPr>
          <p:cNvPr name="TextBox 12" id="12"/>
          <p:cNvSpPr txBox="true"/>
          <p:nvPr/>
        </p:nvSpPr>
        <p:spPr>
          <a:xfrm rot="0">
            <a:off x="13427536" y="4049343"/>
            <a:ext cx="3863000" cy="464820"/>
          </a:xfrm>
          <a:prstGeom prst="rect">
            <a:avLst/>
          </a:prstGeom>
        </p:spPr>
        <p:txBody>
          <a:bodyPr anchor="t" rtlCol="false" tIns="0" lIns="0" bIns="0" rIns="0">
            <a:spAutoFit/>
          </a:bodyPr>
          <a:lstStyle/>
          <a:p>
            <a:pPr algn="ctr">
              <a:lnSpc>
                <a:spcPts val="3779"/>
              </a:lnSpc>
            </a:pPr>
            <a:r>
              <a:rPr lang="en-US" b="true" sz="2699">
                <a:solidFill>
                  <a:srgbClr val="66574D"/>
                </a:solidFill>
                <a:latin typeface="Glacial Indifference Bold"/>
                <a:ea typeface="Glacial Indifference Bold"/>
                <a:cs typeface="Glacial Indifference Bold"/>
                <a:sym typeface="Glacial Indifference Bold"/>
              </a:rPr>
              <a:t>PROFESSIONALS</a:t>
            </a:r>
          </a:p>
        </p:txBody>
      </p:sp>
      <p:grpSp>
        <p:nvGrpSpPr>
          <p:cNvPr name="Group 13" id="13"/>
          <p:cNvGrpSpPr/>
          <p:nvPr/>
        </p:nvGrpSpPr>
        <p:grpSpPr>
          <a:xfrm rot="0">
            <a:off x="6161773" y="2617246"/>
            <a:ext cx="5819776" cy="1271226"/>
            <a:chOff x="0" y="0"/>
            <a:chExt cx="1444577" cy="315542"/>
          </a:xfrm>
        </p:grpSpPr>
        <p:sp>
          <p:nvSpPr>
            <p:cNvPr name="Freeform 14" id="14"/>
            <p:cNvSpPr/>
            <p:nvPr/>
          </p:nvSpPr>
          <p:spPr>
            <a:xfrm flipH="false" flipV="false" rot="0">
              <a:off x="0" y="0"/>
              <a:ext cx="1444577" cy="315542"/>
            </a:xfrm>
            <a:custGeom>
              <a:avLst/>
              <a:gdLst/>
              <a:ahLst/>
              <a:cxnLst/>
              <a:rect r="r" b="b" t="t" l="l"/>
              <a:pathLst>
                <a:path h="315542" w="1444577">
                  <a:moveTo>
                    <a:pt x="0" y="0"/>
                  </a:moveTo>
                  <a:lnTo>
                    <a:pt x="1444577" y="0"/>
                  </a:lnTo>
                  <a:lnTo>
                    <a:pt x="1444577" y="315542"/>
                  </a:lnTo>
                  <a:lnTo>
                    <a:pt x="0" y="315542"/>
                  </a:lnTo>
                  <a:close/>
                </a:path>
              </a:pathLst>
            </a:custGeom>
            <a:solidFill>
              <a:srgbClr val="3D3735"/>
            </a:solidFill>
            <a:ln cap="sq">
              <a:noFill/>
              <a:prstDash val="solid"/>
              <a:miter/>
            </a:ln>
          </p:spPr>
        </p:sp>
        <p:sp>
          <p:nvSpPr>
            <p:cNvPr name="TextBox 15" id="15"/>
            <p:cNvSpPr txBox="true"/>
            <p:nvPr/>
          </p:nvSpPr>
          <p:spPr>
            <a:xfrm>
              <a:off x="0" y="-57150"/>
              <a:ext cx="1444577" cy="372692"/>
            </a:xfrm>
            <a:prstGeom prst="rect">
              <a:avLst/>
            </a:prstGeom>
          </p:spPr>
          <p:txBody>
            <a:bodyPr anchor="ctr" rtlCol="false" tIns="50800" lIns="50800" bIns="50800" rIns="50800"/>
            <a:lstStyle/>
            <a:p>
              <a:pPr algn="ctr">
                <a:lnSpc>
                  <a:spcPts val="3359"/>
                </a:lnSpc>
              </a:pPr>
            </a:p>
          </p:txBody>
        </p:sp>
      </p:grpSp>
      <p:sp>
        <p:nvSpPr>
          <p:cNvPr name="TextBox 16" id="16"/>
          <p:cNvSpPr txBox="true"/>
          <p:nvPr/>
        </p:nvSpPr>
        <p:spPr>
          <a:xfrm rot="0">
            <a:off x="6486159" y="2807089"/>
            <a:ext cx="5155691" cy="834390"/>
          </a:xfrm>
          <a:prstGeom prst="rect">
            <a:avLst/>
          </a:prstGeom>
        </p:spPr>
        <p:txBody>
          <a:bodyPr anchor="t" rtlCol="false" tIns="0" lIns="0" bIns="0" rIns="0">
            <a:spAutoFit/>
          </a:bodyPr>
          <a:lstStyle/>
          <a:p>
            <a:pPr algn="ctr">
              <a:lnSpc>
                <a:spcPts val="3359"/>
              </a:lnSpc>
              <a:spcBef>
                <a:spcPct val="0"/>
              </a:spcBef>
            </a:pPr>
            <a:r>
              <a:rPr lang="en-US" b="true" sz="2400">
                <a:solidFill>
                  <a:srgbClr val="E9E1DB"/>
                </a:solidFill>
                <a:latin typeface="Glacial Indifference Bold"/>
                <a:ea typeface="Glacial Indifference Bold"/>
                <a:cs typeface="Glacial Indifference Bold"/>
                <a:sym typeface="Glacial Indifference Bold"/>
              </a:rPr>
              <a:t>STARTI</a:t>
            </a:r>
            <a:r>
              <a:rPr lang="en-US" b="true" sz="2400">
                <a:solidFill>
                  <a:srgbClr val="E9E1DB"/>
                </a:solidFill>
                <a:latin typeface="Glacial Indifference Bold"/>
                <a:ea typeface="Glacial Indifference Bold"/>
                <a:cs typeface="Glacial Indifference Bold"/>
                <a:sym typeface="Glacial Indifference Bold"/>
              </a:rPr>
              <a:t>NG: HARARE</a:t>
            </a:r>
          </a:p>
          <a:p>
            <a:pPr algn="ctr">
              <a:lnSpc>
                <a:spcPts val="3359"/>
              </a:lnSpc>
              <a:spcBef>
                <a:spcPct val="0"/>
              </a:spcBef>
            </a:pPr>
            <a:r>
              <a:rPr lang="en-US" b="true" sz="2400">
                <a:solidFill>
                  <a:srgbClr val="E9E1DB"/>
                </a:solidFill>
                <a:latin typeface="Glacial Indifference Bold"/>
                <a:ea typeface="Glacial Indifference Bold"/>
                <a:cs typeface="Glacial Indifference Bold"/>
                <a:sym typeface="Glacial Indifference Bold"/>
              </a:rPr>
              <a:t>→ BULAWAYO · MUTARE · GWERU</a:t>
            </a:r>
          </a:p>
        </p:txBody>
      </p:sp>
      <p:grpSp>
        <p:nvGrpSpPr>
          <p:cNvPr name="Group 17" id="17"/>
          <p:cNvGrpSpPr/>
          <p:nvPr/>
        </p:nvGrpSpPr>
        <p:grpSpPr>
          <a:xfrm rot="0">
            <a:off x="6547901" y="4886692"/>
            <a:ext cx="5058971" cy="4461129"/>
            <a:chOff x="0" y="0"/>
            <a:chExt cx="6745294" cy="5948172"/>
          </a:xfrm>
        </p:grpSpPr>
        <p:grpSp>
          <p:nvGrpSpPr>
            <p:cNvPr name="Group 18" id="18"/>
            <p:cNvGrpSpPr/>
            <p:nvPr/>
          </p:nvGrpSpPr>
          <p:grpSpPr>
            <a:xfrm rot="0">
              <a:off x="0" y="0"/>
              <a:ext cx="6745294" cy="5405026"/>
              <a:chOff x="0" y="0"/>
              <a:chExt cx="1471034" cy="1178745"/>
            </a:xfrm>
          </p:grpSpPr>
          <p:sp>
            <p:nvSpPr>
              <p:cNvPr name="Freeform 19" id="19"/>
              <p:cNvSpPr/>
              <p:nvPr/>
            </p:nvSpPr>
            <p:spPr>
              <a:xfrm flipH="false" flipV="false" rot="0">
                <a:off x="0" y="0"/>
                <a:ext cx="1471034" cy="1178745"/>
              </a:xfrm>
              <a:custGeom>
                <a:avLst/>
                <a:gdLst/>
                <a:ahLst/>
                <a:cxnLst/>
                <a:rect r="r" b="b" t="t" l="l"/>
                <a:pathLst>
                  <a:path h="1178745" w="1471034">
                    <a:moveTo>
                      <a:pt x="24821" y="0"/>
                    </a:moveTo>
                    <a:lnTo>
                      <a:pt x="1446214" y="0"/>
                    </a:lnTo>
                    <a:cubicBezTo>
                      <a:pt x="1459922" y="0"/>
                      <a:pt x="1471034" y="11113"/>
                      <a:pt x="1471034" y="24821"/>
                    </a:cubicBezTo>
                    <a:lnTo>
                      <a:pt x="1471034" y="1153924"/>
                    </a:lnTo>
                    <a:cubicBezTo>
                      <a:pt x="1471034" y="1160507"/>
                      <a:pt x="1468419" y="1166820"/>
                      <a:pt x="1463764" y="1171475"/>
                    </a:cubicBezTo>
                    <a:cubicBezTo>
                      <a:pt x="1459110" y="1176129"/>
                      <a:pt x="1452796" y="1178745"/>
                      <a:pt x="1446214" y="1178745"/>
                    </a:cubicBezTo>
                    <a:lnTo>
                      <a:pt x="24821" y="1178745"/>
                    </a:lnTo>
                    <a:cubicBezTo>
                      <a:pt x="18238" y="1178745"/>
                      <a:pt x="11925" y="1176129"/>
                      <a:pt x="7270" y="1171475"/>
                    </a:cubicBezTo>
                    <a:cubicBezTo>
                      <a:pt x="2615" y="1166820"/>
                      <a:pt x="0" y="1160507"/>
                      <a:pt x="0" y="1153924"/>
                    </a:cubicBezTo>
                    <a:lnTo>
                      <a:pt x="0" y="24821"/>
                    </a:lnTo>
                    <a:cubicBezTo>
                      <a:pt x="0" y="18238"/>
                      <a:pt x="2615" y="11925"/>
                      <a:pt x="7270" y="7270"/>
                    </a:cubicBezTo>
                    <a:cubicBezTo>
                      <a:pt x="11925" y="2615"/>
                      <a:pt x="18238" y="0"/>
                      <a:pt x="24821" y="0"/>
                    </a:cubicBezTo>
                    <a:close/>
                  </a:path>
                </a:pathLst>
              </a:custGeom>
              <a:solidFill>
                <a:srgbClr val="E9E1DB"/>
              </a:solidFill>
              <a:ln w="38100" cap="sq">
                <a:solidFill>
                  <a:srgbClr val="FFFFFF"/>
                </a:solidFill>
                <a:prstDash val="solid"/>
                <a:miter/>
              </a:ln>
            </p:spPr>
          </p:sp>
          <p:sp>
            <p:nvSpPr>
              <p:cNvPr name="TextBox 20" id="20"/>
              <p:cNvSpPr txBox="true"/>
              <p:nvPr/>
            </p:nvSpPr>
            <p:spPr>
              <a:xfrm>
                <a:off x="0" y="-57150"/>
                <a:ext cx="1471034" cy="1235895"/>
              </a:xfrm>
              <a:prstGeom prst="rect">
                <a:avLst/>
              </a:prstGeom>
            </p:spPr>
            <p:txBody>
              <a:bodyPr anchor="ctr" rtlCol="false" tIns="50800" lIns="50800" bIns="50800" rIns="50800"/>
              <a:lstStyle/>
              <a:p>
                <a:pPr algn="ctr">
                  <a:lnSpc>
                    <a:spcPts val="3359"/>
                  </a:lnSpc>
                </a:pPr>
              </a:p>
            </p:txBody>
          </p:sp>
        </p:grpSp>
        <p:sp>
          <p:nvSpPr>
            <p:cNvPr name="TextBox 21" id="21"/>
            <p:cNvSpPr txBox="true"/>
            <p:nvPr/>
          </p:nvSpPr>
          <p:spPr>
            <a:xfrm rot="0">
              <a:off x="1141548" y="4757105"/>
              <a:ext cx="3004470" cy="1191067"/>
            </a:xfrm>
            <a:prstGeom prst="rect">
              <a:avLst/>
            </a:prstGeom>
          </p:spPr>
          <p:txBody>
            <a:bodyPr anchor="t" rtlCol="false" tIns="0" lIns="0" bIns="0" rIns="0">
              <a:spAutoFit/>
            </a:bodyPr>
            <a:lstStyle/>
            <a:p>
              <a:pPr algn="l">
                <a:lnSpc>
                  <a:spcPts val="7528"/>
                </a:lnSpc>
              </a:pPr>
            </a:p>
          </p:txBody>
        </p:sp>
      </p:grpSp>
      <p:grpSp>
        <p:nvGrpSpPr>
          <p:cNvPr name="Group 22" id="22"/>
          <p:cNvGrpSpPr/>
          <p:nvPr/>
        </p:nvGrpSpPr>
        <p:grpSpPr>
          <a:xfrm rot="0">
            <a:off x="-418052" y="2217196"/>
            <a:ext cx="19683732" cy="47625"/>
            <a:chOff x="0" y="0"/>
            <a:chExt cx="10449963" cy="25284"/>
          </a:xfrm>
        </p:grpSpPr>
        <p:sp>
          <p:nvSpPr>
            <p:cNvPr name="Freeform 23" id="23"/>
            <p:cNvSpPr/>
            <p:nvPr/>
          </p:nvSpPr>
          <p:spPr>
            <a:xfrm flipH="false" flipV="false" rot="0">
              <a:off x="0" y="0"/>
              <a:ext cx="10449963" cy="25284"/>
            </a:xfrm>
            <a:custGeom>
              <a:avLst/>
              <a:gdLst/>
              <a:ahLst/>
              <a:cxnLst/>
              <a:rect r="r" b="b" t="t" l="l"/>
              <a:pathLst>
                <a:path h="25284" w="10449963">
                  <a:moveTo>
                    <a:pt x="203200" y="0"/>
                  </a:moveTo>
                  <a:lnTo>
                    <a:pt x="10449963" y="0"/>
                  </a:lnTo>
                  <a:lnTo>
                    <a:pt x="10246763" y="25284"/>
                  </a:lnTo>
                  <a:lnTo>
                    <a:pt x="0" y="25284"/>
                  </a:lnTo>
                  <a:lnTo>
                    <a:pt x="203200" y="0"/>
                  </a:lnTo>
                  <a:close/>
                </a:path>
              </a:pathLst>
            </a:custGeom>
            <a:solidFill>
              <a:srgbClr val="66574D"/>
            </a:solidFill>
          </p:spPr>
        </p:sp>
        <p:sp>
          <p:nvSpPr>
            <p:cNvPr name="TextBox 24" id="24"/>
            <p:cNvSpPr txBox="true"/>
            <p:nvPr/>
          </p:nvSpPr>
          <p:spPr>
            <a:xfrm>
              <a:off x="101600" y="-38100"/>
              <a:ext cx="10246763" cy="63384"/>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5400000">
            <a:off x="6803832" y="7838648"/>
            <a:ext cx="11278978" cy="131324"/>
            <a:chOff x="0" y="0"/>
            <a:chExt cx="5987935" cy="69719"/>
          </a:xfrm>
        </p:grpSpPr>
        <p:sp>
          <p:nvSpPr>
            <p:cNvPr name="Freeform 26" id="26"/>
            <p:cNvSpPr/>
            <p:nvPr/>
          </p:nvSpPr>
          <p:spPr>
            <a:xfrm flipH="false" flipV="false" rot="0">
              <a:off x="0" y="0"/>
              <a:ext cx="5987935" cy="69719"/>
            </a:xfrm>
            <a:custGeom>
              <a:avLst/>
              <a:gdLst/>
              <a:ahLst/>
              <a:cxnLst/>
              <a:rect r="r" b="b" t="t" l="l"/>
              <a:pathLst>
                <a:path h="69719" w="5987935">
                  <a:moveTo>
                    <a:pt x="203200" y="0"/>
                  </a:moveTo>
                  <a:lnTo>
                    <a:pt x="5987935" y="0"/>
                  </a:lnTo>
                  <a:lnTo>
                    <a:pt x="5784735" y="69719"/>
                  </a:lnTo>
                  <a:lnTo>
                    <a:pt x="0" y="69719"/>
                  </a:lnTo>
                  <a:lnTo>
                    <a:pt x="203200" y="0"/>
                  </a:lnTo>
                  <a:close/>
                </a:path>
              </a:pathLst>
            </a:custGeom>
            <a:solidFill>
              <a:srgbClr val="66574D"/>
            </a:solidFill>
          </p:spPr>
        </p:sp>
        <p:sp>
          <p:nvSpPr>
            <p:cNvPr name="TextBox 27" id="27"/>
            <p:cNvSpPr txBox="true"/>
            <p:nvPr/>
          </p:nvSpPr>
          <p:spPr>
            <a:xfrm>
              <a:off x="101600" y="-38100"/>
              <a:ext cx="5784735" cy="10781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5400000">
            <a:off x="6614" y="7793855"/>
            <a:ext cx="11366886" cy="153588"/>
            <a:chOff x="0" y="0"/>
            <a:chExt cx="5987935" cy="80908"/>
          </a:xfrm>
        </p:grpSpPr>
        <p:sp>
          <p:nvSpPr>
            <p:cNvPr name="Freeform 29" id="29"/>
            <p:cNvSpPr/>
            <p:nvPr/>
          </p:nvSpPr>
          <p:spPr>
            <a:xfrm flipH="false" flipV="false" rot="0">
              <a:off x="0" y="0"/>
              <a:ext cx="5987935" cy="80908"/>
            </a:xfrm>
            <a:custGeom>
              <a:avLst/>
              <a:gdLst/>
              <a:ahLst/>
              <a:cxnLst/>
              <a:rect r="r" b="b" t="t" l="l"/>
              <a:pathLst>
                <a:path h="80908" w="5987935">
                  <a:moveTo>
                    <a:pt x="203200" y="0"/>
                  </a:moveTo>
                  <a:lnTo>
                    <a:pt x="5987935" y="0"/>
                  </a:lnTo>
                  <a:lnTo>
                    <a:pt x="5784735" y="80908"/>
                  </a:lnTo>
                  <a:lnTo>
                    <a:pt x="0" y="80908"/>
                  </a:lnTo>
                  <a:lnTo>
                    <a:pt x="203200" y="0"/>
                  </a:lnTo>
                  <a:close/>
                </a:path>
              </a:pathLst>
            </a:custGeom>
            <a:solidFill>
              <a:srgbClr val="66574D"/>
            </a:solidFill>
          </p:spPr>
        </p:sp>
        <p:sp>
          <p:nvSpPr>
            <p:cNvPr name="TextBox 30" id="30"/>
            <p:cNvSpPr txBox="true"/>
            <p:nvPr/>
          </p:nvSpPr>
          <p:spPr>
            <a:xfrm>
              <a:off x="101600" y="-38100"/>
              <a:ext cx="5784735" cy="119008"/>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3190516" y="4780029"/>
            <a:ext cx="4823804" cy="4036089"/>
            <a:chOff x="0" y="0"/>
            <a:chExt cx="1452122" cy="1214994"/>
          </a:xfrm>
        </p:grpSpPr>
        <p:sp>
          <p:nvSpPr>
            <p:cNvPr name="Freeform 32" id="32"/>
            <p:cNvSpPr/>
            <p:nvPr/>
          </p:nvSpPr>
          <p:spPr>
            <a:xfrm flipH="false" flipV="false" rot="0">
              <a:off x="0" y="0"/>
              <a:ext cx="1452122" cy="1214994"/>
            </a:xfrm>
            <a:custGeom>
              <a:avLst/>
              <a:gdLst/>
              <a:ahLst/>
              <a:cxnLst/>
              <a:rect r="r" b="b" t="t" l="l"/>
              <a:pathLst>
                <a:path h="1214994" w="1452122">
                  <a:moveTo>
                    <a:pt x="30494" y="0"/>
                  </a:moveTo>
                  <a:lnTo>
                    <a:pt x="1421628" y="0"/>
                  </a:lnTo>
                  <a:cubicBezTo>
                    <a:pt x="1438469" y="0"/>
                    <a:pt x="1452122" y="13653"/>
                    <a:pt x="1452122" y="30494"/>
                  </a:cubicBezTo>
                  <a:lnTo>
                    <a:pt x="1452122" y="1184500"/>
                  </a:lnTo>
                  <a:cubicBezTo>
                    <a:pt x="1452122" y="1201341"/>
                    <a:pt x="1438469" y="1214994"/>
                    <a:pt x="1421628" y="1214994"/>
                  </a:cubicBezTo>
                  <a:lnTo>
                    <a:pt x="30494" y="1214994"/>
                  </a:lnTo>
                  <a:cubicBezTo>
                    <a:pt x="13653" y="1214994"/>
                    <a:pt x="0" y="1201341"/>
                    <a:pt x="0" y="1184500"/>
                  </a:cubicBezTo>
                  <a:lnTo>
                    <a:pt x="0" y="30494"/>
                  </a:lnTo>
                  <a:cubicBezTo>
                    <a:pt x="0" y="13653"/>
                    <a:pt x="13653" y="0"/>
                    <a:pt x="30494" y="0"/>
                  </a:cubicBezTo>
                  <a:close/>
                </a:path>
              </a:pathLst>
            </a:custGeom>
            <a:solidFill>
              <a:srgbClr val="E9E1DB"/>
            </a:solidFill>
            <a:ln w="38100" cap="sq">
              <a:solidFill>
                <a:srgbClr val="FFFFFF"/>
              </a:solidFill>
              <a:prstDash val="solid"/>
              <a:miter/>
            </a:ln>
          </p:spPr>
        </p:sp>
        <p:sp>
          <p:nvSpPr>
            <p:cNvPr name="TextBox 33" id="33"/>
            <p:cNvSpPr txBox="true"/>
            <p:nvPr/>
          </p:nvSpPr>
          <p:spPr>
            <a:xfrm>
              <a:off x="0" y="-57150"/>
              <a:ext cx="1452122" cy="1272144"/>
            </a:xfrm>
            <a:prstGeom prst="rect">
              <a:avLst/>
            </a:prstGeom>
          </p:spPr>
          <p:txBody>
            <a:bodyPr anchor="ctr" rtlCol="false" tIns="41888" lIns="41888" bIns="41888" rIns="41888"/>
            <a:lstStyle/>
            <a:p>
              <a:pPr algn="ctr">
                <a:lnSpc>
                  <a:spcPts val="3360"/>
                </a:lnSpc>
              </a:pPr>
            </a:p>
          </p:txBody>
        </p:sp>
      </p:grpSp>
      <p:sp>
        <p:nvSpPr>
          <p:cNvPr name="TextBox 34" id="34"/>
          <p:cNvSpPr txBox="true"/>
          <p:nvPr/>
        </p:nvSpPr>
        <p:spPr>
          <a:xfrm rot="0">
            <a:off x="13929112" y="2728979"/>
            <a:ext cx="1843903" cy="891739"/>
          </a:xfrm>
          <a:prstGeom prst="rect">
            <a:avLst/>
          </a:prstGeom>
        </p:spPr>
        <p:txBody>
          <a:bodyPr anchor="t" rtlCol="false" tIns="0" lIns="0" bIns="0" rIns="0">
            <a:spAutoFit/>
          </a:bodyPr>
          <a:lstStyle/>
          <a:p>
            <a:pPr algn="l">
              <a:lnSpc>
                <a:spcPts val="7272"/>
              </a:lnSpc>
            </a:pPr>
          </a:p>
        </p:txBody>
      </p:sp>
      <p:sp>
        <p:nvSpPr>
          <p:cNvPr name="TextBox 35" id="35"/>
          <p:cNvSpPr txBox="true"/>
          <p:nvPr/>
        </p:nvSpPr>
        <p:spPr>
          <a:xfrm rot="0">
            <a:off x="13395799" y="4797838"/>
            <a:ext cx="4413238" cy="4187190"/>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3 MILLI</a:t>
            </a:r>
            <a:r>
              <a:rPr lang="en-US" b="true" sz="2400">
                <a:solidFill>
                  <a:srgbClr val="66574D"/>
                </a:solidFill>
                <a:latin typeface="Glacial Indifference Bold"/>
                <a:ea typeface="Glacial Indifference Bold"/>
                <a:cs typeface="Glacial Indifference Bold"/>
                <a:sym typeface="Glacial Indifference Bold"/>
              </a:rPr>
              <a:t>on Zimbabw</a:t>
            </a:r>
            <a:r>
              <a:rPr lang="en-US" b="true" sz="2400">
                <a:solidFill>
                  <a:srgbClr val="66574D"/>
                </a:solidFill>
                <a:latin typeface="Glacial Indifference Bold"/>
                <a:ea typeface="Glacial Indifference Bold"/>
                <a:cs typeface="Glacial Indifference Bold"/>
                <a:sym typeface="Glacial Indifference Bold"/>
              </a:rPr>
              <a:t>E</a:t>
            </a:r>
            <a:r>
              <a:rPr lang="en-US" b="true" sz="2400">
                <a:solidFill>
                  <a:srgbClr val="66574D"/>
                </a:solidFill>
                <a:latin typeface="Glacial Indifference Bold"/>
                <a:ea typeface="Glacial Indifference Bold"/>
                <a:cs typeface="Glacial Indifference Bold"/>
                <a:sym typeface="Glacial Indifference Bold"/>
              </a:rPr>
              <a:t>ans abroad</a:t>
            </a:r>
          </a:p>
          <a:p>
            <a:pPr algn="l">
              <a:lnSpc>
                <a:spcPts val="3359"/>
              </a:lnSpc>
            </a:pPr>
          </a:p>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USD 2B in annual remittances</a:t>
            </a:r>
          </a:p>
          <a:p>
            <a:pPr algn="l">
              <a:lnSpc>
                <a:spcPts val="3359"/>
              </a:lnSpc>
            </a:pPr>
          </a:p>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Target for credit card &amp; mortgage products (Year 3+)</a:t>
            </a:r>
          </a:p>
          <a:p>
            <a:pPr algn="l">
              <a:lnSpc>
                <a:spcPts val="3359"/>
              </a:lnSpc>
            </a:pPr>
          </a:p>
        </p:txBody>
      </p:sp>
      <p:sp>
        <p:nvSpPr>
          <p:cNvPr name="TextBox 36" id="36"/>
          <p:cNvSpPr txBox="true"/>
          <p:nvPr/>
        </p:nvSpPr>
        <p:spPr>
          <a:xfrm rot="0">
            <a:off x="6547901" y="4183747"/>
            <a:ext cx="4749521" cy="464820"/>
          </a:xfrm>
          <a:prstGeom prst="rect">
            <a:avLst/>
          </a:prstGeom>
        </p:spPr>
        <p:txBody>
          <a:bodyPr anchor="t" rtlCol="false" tIns="0" lIns="0" bIns="0" rIns="0">
            <a:spAutoFit/>
          </a:bodyPr>
          <a:lstStyle/>
          <a:p>
            <a:pPr algn="ctr">
              <a:lnSpc>
                <a:spcPts val="3779"/>
              </a:lnSpc>
            </a:pPr>
            <a:r>
              <a:rPr lang="en-US" b="true" sz="2699">
                <a:solidFill>
                  <a:srgbClr val="66574D"/>
                </a:solidFill>
                <a:latin typeface="Glacial Indifference Bold"/>
                <a:ea typeface="Glacial Indifference Bold"/>
                <a:cs typeface="Glacial Indifference Bold"/>
                <a:sym typeface="Glacial Indifference Bold"/>
              </a:rPr>
              <a:t>SALARIED PAYROLL EARNERS</a:t>
            </a:r>
          </a:p>
        </p:txBody>
      </p:sp>
      <p:sp>
        <p:nvSpPr>
          <p:cNvPr name="TextBox 37" id="37"/>
          <p:cNvSpPr txBox="true"/>
          <p:nvPr/>
        </p:nvSpPr>
        <p:spPr>
          <a:xfrm rot="0">
            <a:off x="539892" y="4183747"/>
            <a:ext cx="4886118" cy="464820"/>
          </a:xfrm>
          <a:prstGeom prst="rect">
            <a:avLst/>
          </a:prstGeom>
        </p:spPr>
        <p:txBody>
          <a:bodyPr anchor="t" rtlCol="false" tIns="0" lIns="0" bIns="0" rIns="0">
            <a:spAutoFit/>
          </a:bodyPr>
          <a:lstStyle/>
          <a:p>
            <a:pPr algn="ctr">
              <a:lnSpc>
                <a:spcPts val="3779"/>
              </a:lnSpc>
            </a:pPr>
            <a:r>
              <a:rPr lang="en-US" b="true" sz="2699">
                <a:solidFill>
                  <a:srgbClr val="66574D"/>
                </a:solidFill>
                <a:latin typeface="Glacial Indifference Bold"/>
                <a:ea typeface="Glacial Indifference Bold"/>
                <a:cs typeface="Glacial Indifference Bold"/>
                <a:sym typeface="Glacial Indifference Bold"/>
              </a:rPr>
              <a:t>INFORMAL SECTOR WORKERS</a:t>
            </a:r>
          </a:p>
        </p:txBody>
      </p:sp>
      <p:sp>
        <p:nvSpPr>
          <p:cNvPr name="TextBox 38" id="38"/>
          <p:cNvSpPr txBox="true"/>
          <p:nvPr/>
        </p:nvSpPr>
        <p:spPr>
          <a:xfrm rot="0">
            <a:off x="6682988" y="5216938"/>
            <a:ext cx="4922023" cy="3768090"/>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500,000 workers nationwide</a:t>
            </a:r>
          </a:p>
          <a:p>
            <a:pPr algn="l">
              <a:lnSpc>
                <a:spcPts val="3359"/>
              </a:lnSpc>
            </a:pPr>
          </a:p>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 teachers, nurses, police</a:t>
            </a:r>
          </a:p>
          <a:p>
            <a:pPr algn="l">
              <a:lnSpc>
                <a:spcPts val="3359"/>
              </a:lnSpc>
            </a:pPr>
          </a:p>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Entry-level &amp; Seniors</a:t>
            </a:r>
          </a:p>
          <a:p>
            <a:pPr algn="l">
              <a:lnSpc>
                <a:spcPts val="3359"/>
              </a:lnSpc>
            </a:pPr>
          </a:p>
          <a:p>
            <a:pPr algn="l" marL="518160" indent="-259080" lvl="1">
              <a:lnSpc>
                <a:spcPts val="3359"/>
              </a:lnSpc>
              <a:buFont typeface="Arial"/>
              <a:buChar char="•"/>
            </a:pPr>
            <a:r>
              <a:rPr lang="en-US" b="true" sz="2400">
                <a:solidFill>
                  <a:srgbClr val="66574D"/>
                </a:solidFill>
                <a:latin typeface="Glacial Indifference Bold"/>
                <a:ea typeface="Glacial Indifference Bold"/>
                <a:cs typeface="Glacial Indifference Bold"/>
                <a:sym typeface="Glacial Indifference Bold"/>
              </a:rPr>
              <a:t>Private sector</a:t>
            </a:r>
          </a:p>
          <a:p>
            <a:pPr algn="l">
              <a:lnSpc>
                <a:spcPts val="3359"/>
              </a:lnSpc>
            </a:pPr>
          </a:p>
          <a:p>
            <a:pPr algn="l">
              <a:lnSpc>
                <a:spcPts val="3359"/>
              </a:lnSpc>
            </a:pPr>
            <a:r>
              <a:rPr lang="en-US" sz="2400">
                <a:solidFill>
                  <a:srgbClr val="66574D"/>
                </a:solidFill>
                <a:latin typeface="Glacial Indifference"/>
                <a:ea typeface="Glacial Indifference"/>
                <a:cs typeface="Glacial Indifference"/>
                <a:sym typeface="Glacial Indifference"/>
              </a:rPr>
              <a: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E1DB"/>
        </a:solidFill>
      </p:bgPr>
    </p:bg>
    <p:spTree>
      <p:nvGrpSpPr>
        <p:cNvPr id="1" name=""/>
        <p:cNvGrpSpPr/>
        <p:nvPr/>
      </p:nvGrpSpPr>
      <p:grpSpPr>
        <a:xfrm>
          <a:off x="0" y="0"/>
          <a:ext cx="0" cy="0"/>
          <a:chOff x="0" y="0"/>
          <a:chExt cx="0" cy="0"/>
        </a:xfrm>
      </p:grpSpPr>
      <p:sp>
        <p:nvSpPr>
          <p:cNvPr name="TextBox 2" id="2"/>
          <p:cNvSpPr txBox="true"/>
          <p:nvPr/>
        </p:nvSpPr>
        <p:spPr>
          <a:xfrm rot="0">
            <a:off x="1247574" y="1889957"/>
            <a:ext cx="6457429" cy="2620645"/>
          </a:xfrm>
          <a:prstGeom prst="rect">
            <a:avLst/>
          </a:prstGeom>
        </p:spPr>
        <p:txBody>
          <a:bodyPr anchor="t" rtlCol="false" tIns="0" lIns="0" bIns="0" rIns="0">
            <a:spAutoFit/>
          </a:bodyPr>
          <a:lstStyle/>
          <a:p>
            <a:pPr algn="l">
              <a:lnSpc>
                <a:spcPts val="6800"/>
              </a:lnSpc>
            </a:pPr>
            <a:r>
              <a:rPr lang="en-US" sz="6800">
                <a:solidFill>
                  <a:srgbClr val="66574D"/>
                </a:solidFill>
                <a:latin typeface="League Spartan"/>
                <a:ea typeface="League Spartan"/>
                <a:cs typeface="League Spartan"/>
                <a:sym typeface="League Spartan"/>
              </a:rPr>
              <a:t>GO-TO MARKET STRATEGY</a:t>
            </a:r>
          </a:p>
        </p:txBody>
      </p:sp>
      <p:sp>
        <p:nvSpPr>
          <p:cNvPr name="Freeform 3" id="3"/>
          <p:cNvSpPr/>
          <p:nvPr/>
        </p:nvSpPr>
        <p:spPr>
          <a:xfrm flipH="false" flipV="false" rot="0">
            <a:off x="6539712" y="2433720"/>
            <a:ext cx="945537" cy="945537"/>
          </a:xfrm>
          <a:custGeom>
            <a:avLst/>
            <a:gdLst/>
            <a:ahLst/>
            <a:cxnLst/>
            <a:rect r="r" b="b" t="t" l="l"/>
            <a:pathLst>
              <a:path h="945537" w="945537">
                <a:moveTo>
                  <a:pt x="0" y="0"/>
                </a:moveTo>
                <a:lnTo>
                  <a:pt x="945536" y="0"/>
                </a:lnTo>
                <a:lnTo>
                  <a:pt x="945536" y="945537"/>
                </a:lnTo>
                <a:lnTo>
                  <a:pt x="0" y="9455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2566614" y="-3073445"/>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107850" y="1595317"/>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7664" y="0"/>
                  </a:moveTo>
                  <a:lnTo>
                    <a:pt x="765136" y="0"/>
                  </a:lnTo>
                  <a:cubicBezTo>
                    <a:pt x="791460" y="0"/>
                    <a:pt x="812800" y="21340"/>
                    <a:pt x="812800" y="47664"/>
                  </a:cubicBezTo>
                  <a:lnTo>
                    <a:pt x="812800" y="765136"/>
                  </a:lnTo>
                  <a:cubicBezTo>
                    <a:pt x="812800" y="791460"/>
                    <a:pt x="791460" y="812800"/>
                    <a:pt x="765136" y="812800"/>
                  </a:cubicBezTo>
                  <a:lnTo>
                    <a:pt x="47664" y="812800"/>
                  </a:lnTo>
                  <a:cubicBezTo>
                    <a:pt x="21340" y="812800"/>
                    <a:pt x="0" y="791460"/>
                    <a:pt x="0" y="765136"/>
                  </a:cubicBezTo>
                  <a:lnTo>
                    <a:pt x="0" y="47664"/>
                  </a:lnTo>
                  <a:cubicBezTo>
                    <a:pt x="0" y="21340"/>
                    <a:pt x="21340" y="0"/>
                    <a:pt x="47664" y="0"/>
                  </a:cubicBezTo>
                  <a:close/>
                </a:path>
              </a:pathLst>
            </a:custGeom>
            <a:solidFill>
              <a:srgbClr val="66574D"/>
            </a:solidFill>
          </p:spPr>
        </p:sp>
        <p:sp>
          <p:nvSpPr>
            <p:cNvPr name="TextBox 7" id="7"/>
            <p:cNvSpPr txBox="true"/>
            <p:nvPr/>
          </p:nvSpPr>
          <p:spPr>
            <a:xfrm>
              <a:off x="0" y="-57150"/>
              <a:ext cx="812800" cy="869950"/>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533510" y="5143500"/>
            <a:ext cx="4779945" cy="2555877"/>
            <a:chOff x="0" y="0"/>
            <a:chExt cx="6373260" cy="3407836"/>
          </a:xfrm>
        </p:grpSpPr>
        <p:grpSp>
          <p:nvGrpSpPr>
            <p:cNvPr name="Group 9" id="9"/>
            <p:cNvGrpSpPr/>
            <p:nvPr/>
          </p:nvGrpSpPr>
          <p:grpSpPr>
            <a:xfrm rot="0">
              <a:off x="0" y="0"/>
              <a:ext cx="6373260" cy="3407836"/>
              <a:chOff x="0" y="0"/>
              <a:chExt cx="1186471" cy="634416"/>
            </a:xfrm>
          </p:grpSpPr>
          <p:sp>
            <p:nvSpPr>
              <p:cNvPr name="Freeform 10" id="10"/>
              <p:cNvSpPr/>
              <p:nvPr/>
            </p:nvSpPr>
            <p:spPr>
              <a:xfrm flipH="false" flipV="false" rot="0">
                <a:off x="0" y="0"/>
                <a:ext cx="1186471" cy="634416"/>
              </a:xfrm>
              <a:custGeom>
                <a:avLst/>
                <a:gdLst/>
                <a:ahLst/>
                <a:cxnLst/>
                <a:rect r="r" b="b" t="t" l="l"/>
                <a:pathLst>
                  <a:path h="634416" w="1186471">
                    <a:moveTo>
                      <a:pt x="37252" y="0"/>
                    </a:moveTo>
                    <a:lnTo>
                      <a:pt x="1149219" y="0"/>
                    </a:lnTo>
                    <a:cubicBezTo>
                      <a:pt x="1169793" y="0"/>
                      <a:pt x="1186471" y="16678"/>
                      <a:pt x="1186471" y="37252"/>
                    </a:cubicBezTo>
                    <a:lnTo>
                      <a:pt x="1186471" y="597164"/>
                    </a:lnTo>
                    <a:cubicBezTo>
                      <a:pt x="1186471" y="607044"/>
                      <a:pt x="1182547" y="616519"/>
                      <a:pt x="1175561" y="623505"/>
                    </a:cubicBezTo>
                    <a:cubicBezTo>
                      <a:pt x="1168574" y="630492"/>
                      <a:pt x="1159099" y="634416"/>
                      <a:pt x="1149219" y="634416"/>
                    </a:cubicBezTo>
                    <a:lnTo>
                      <a:pt x="37252" y="634416"/>
                    </a:lnTo>
                    <a:cubicBezTo>
                      <a:pt x="16678" y="634416"/>
                      <a:pt x="0" y="617738"/>
                      <a:pt x="0" y="597164"/>
                    </a:cubicBezTo>
                    <a:lnTo>
                      <a:pt x="0" y="37252"/>
                    </a:lnTo>
                    <a:cubicBezTo>
                      <a:pt x="0" y="27372"/>
                      <a:pt x="3925" y="17897"/>
                      <a:pt x="10911" y="10911"/>
                    </a:cubicBezTo>
                    <a:cubicBezTo>
                      <a:pt x="17897" y="3925"/>
                      <a:pt x="27372" y="0"/>
                      <a:pt x="37252" y="0"/>
                    </a:cubicBezTo>
                    <a:close/>
                  </a:path>
                </a:pathLst>
              </a:custGeom>
              <a:solidFill>
                <a:srgbClr val="3D3735"/>
              </a:solidFill>
              <a:ln cap="rnd">
                <a:noFill/>
                <a:prstDash val="solid"/>
                <a:round/>
              </a:ln>
            </p:spPr>
          </p:sp>
          <p:sp>
            <p:nvSpPr>
              <p:cNvPr name="TextBox 11" id="11"/>
              <p:cNvSpPr txBox="true"/>
              <p:nvPr/>
            </p:nvSpPr>
            <p:spPr>
              <a:xfrm>
                <a:off x="0" y="-57150"/>
                <a:ext cx="1186471" cy="691566"/>
              </a:xfrm>
              <a:prstGeom prst="rect">
                <a:avLst/>
              </a:prstGeom>
            </p:spPr>
            <p:txBody>
              <a:bodyPr anchor="ctr" rtlCol="false" tIns="50800" lIns="50800" bIns="50800" rIns="50800"/>
              <a:lstStyle/>
              <a:p>
                <a:pPr algn="ctr">
                  <a:lnSpc>
                    <a:spcPts val="3359"/>
                  </a:lnSpc>
                </a:pPr>
              </a:p>
            </p:txBody>
          </p:sp>
        </p:grpSp>
        <p:sp>
          <p:nvSpPr>
            <p:cNvPr name="TextBox 12" id="12"/>
            <p:cNvSpPr txBox="true"/>
            <p:nvPr/>
          </p:nvSpPr>
          <p:spPr>
            <a:xfrm rot="0">
              <a:off x="461620" y="334858"/>
              <a:ext cx="5911640" cy="2211070"/>
            </a:xfrm>
            <a:prstGeom prst="rect">
              <a:avLst/>
            </a:prstGeom>
          </p:spPr>
          <p:txBody>
            <a:bodyPr anchor="t" rtlCol="false" tIns="0" lIns="0" bIns="0" rIns="0">
              <a:spAutoFit/>
            </a:bodyPr>
            <a:lstStyle/>
            <a:p>
              <a:pPr algn="l" marL="0" indent="0" lvl="0">
                <a:lnSpc>
                  <a:spcPts val="3359"/>
                </a:lnSpc>
              </a:pPr>
              <a:r>
                <a:rPr lang="en-US" sz="2400">
                  <a:solidFill>
                    <a:srgbClr val="E9E1DB"/>
                  </a:solidFill>
                  <a:latin typeface="Glacial Indifference"/>
                  <a:ea typeface="Glacial Indifference"/>
                  <a:cs typeface="Glacial Indifference"/>
                  <a:sym typeface="Glacial Indifference"/>
                </a:rPr>
                <a:t>Phys</a:t>
              </a:r>
              <a:r>
                <a:rPr lang="en-US" sz="2400">
                  <a:solidFill>
                    <a:srgbClr val="E9E1DB"/>
                  </a:solidFill>
                  <a:latin typeface="Glacial Indifference"/>
                  <a:ea typeface="Glacial Indifference"/>
                  <a:cs typeface="Glacial Indifference"/>
                  <a:sym typeface="Glacial Indifference"/>
                </a:rPr>
                <a:t>ical Proximity</a:t>
              </a:r>
            </a:p>
            <a:p>
              <a:pPr algn="l" marL="0" indent="0" lvl="0">
                <a:lnSpc>
                  <a:spcPts val="3359"/>
                </a:lnSpc>
              </a:pPr>
              <a:r>
                <a:rPr lang="en-US" sz="2400">
                  <a:solidFill>
                    <a:srgbClr val="E9E1DB"/>
                  </a:solidFill>
                  <a:latin typeface="Glacial Indifference"/>
                  <a:ea typeface="Glacial Indifference"/>
                  <a:cs typeface="Glacial Indifference"/>
                  <a:sym typeface="Glacial Indifference"/>
                </a:rPr>
                <a:t>Be where customers already transact</a:t>
              </a:r>
            </a:p>
            <a:p>
              <a:pPr algn="l">
                <a:lnSpc>
                  <a:spcPts val="3359"/>
                </a:lnSpc>
              </a:pPr>
            </a:p>
          </p:txBody>
        </p:sp>
      </p:grpSp>
      <p:grpSp>
        <p:nvGrpSpPr>
          <p:cNvPr name="Group 13" id="13"/>
          <p:cNvGrpSpPr/>
          <p:nvPr/>
        </p:nvGrpSpPr>
        <p:grpSpPr>
          <a:xfrm rot="0">
            <a:off x="6384452" y="5143500"/>
            <a:ext cx="5537202" cy="2490736"/>
            <a:chOff x="0" y="0"/>
            <a:chExt cx="7382935" cy="3320981"/>
          </a:xfrm>
        </p:grpSpPr>
        <p:grpSp>
          <p:nvGrpSpPr>
            <p:cNvPr name="Group 14" id="14"/>
            <p:cNvGrpSpPr/>
            <p:nvPr/>
          </p:nvGrpSpPr>
          <p:grpSpPr>
            <a:xfrm rot="0">
              <a:off x="0" y="0"/>
              <a:ext cx="7382935" cy="3320981"/>
              <a:chOff x="0" y="0"/>
              <a:chExt cx="1417097" cy="637437"/>
            </a:xfrm>
          </p:grpSpPr>
          <p:sp>
            <p:nvSpPr>
              <p:cNvPr name="Freeform 15" id="15"/>
              <p:cNvSpPr/>
              <p:nvPr/>
            </p:nvSpPr>
            <p:spPr>
              <a:xfrm flipH="false" flipV="false" rot="0">
                <a:off x="0" y="0"/>
                <a:ext cx="1417097" cy="637437"/>
              </a:xfrm>
              <a:custGeom>
                <a:avLst/>
                <a:gdLst/>
                <a:ahLst/>
                <a:cxnLst/>
                <a:rect r="r" b="b" t="t" l="l"/>
                <a:pathLst>
                  <a:path h="637437" w="1417097">
                    <a:moveTo>
                      <a:pt x="31190" y="0"/>
                    </a:moveTo>
                    <a:lnTo>
                      <a:pt x="1385908" y="0"/>
                    </a:lnTo>
                    <a:cubicBezTo>
                      <a:pt x="1394180" y="0"/>
                      <a:pt x="1402113" y="3286"/>
                      <a:pt x="1407962" y="9135"/>
                    </a:cubicBezTo>
                    <a:cubicBezTo>
                      <a:pt x="1413811" y="14984"/>
                      <a:pt x="1417097" y="22918"/>
                      <a:pt x="1417097" y="31190"/>
                    </a:cubicBezTo>
                    <a:lnTo>
                      <a:pt x="1417097" y="606247"/>
                    </a:lnTo>
                    <a:cubicBezTo>
                      <a:pt x="1417097" y="623472"/>
                      <a:pt x="1403133" y="637437"/>
                      <a:pt x="1385908" y="637437"/>
                    </a:cubicBezTo>
                    <a:lnTo>
                      <a:pt x="31190" y="637437"/>
                    </a:lnTo>
                    <a:cubicBezTo>
                      <a:pt x="13964" y="637437"/>
                      <a:pt x="0" y="623472"/>
                      <a:pt x="0" y="606247"/>
                    </a:cubicBezTo>
                    <a:lnTo>
                      <a:pt x="0" y="31190"/>
                    </a:lnTo>
                    <a:cubicBezTo>
                      <a:pt x="0" y="13964"/>
                      <a:pt x="13964" y="0"/>
                      <a:pt x="31190" y="0"/>
                    </a:cubicBezTo>
                    <a:close/>
                  </a:path>
                </a:pathLst>
              </a:custGeom>
              <a:solidFill>
                <a:srgbClr val="3D3735"/>
              </a:solidFill>
              <a:ln cap="rnd">
                <a:noFill/>
                <a:prstDash val="solid"/>
                <a:round/>
              </a:ln>
            </p:spPr>
          </p:sp>
          <p:sp>
            <p:nvSpPr>
              <p:cNvPr name="TextBox 16" id="16"/>
              <p:cNvSpPr txBox="true"/>
              <p:nvPr/>
            </p:nvSpPr>
            <p:spPr>
              <a:xfrm>
                <a:off x="0" y="-57150"/>
                <a:ext cx="1417097" cy="694587"/>
              </a:xfrm>
              <a:prstGeom prst="rect">
                <a:avLst/>
              </a:prstGeom>
            </p:spPr>
            <p:txBody>
              <a:bodyPr anchor="ctr" rtlCol="false" tIns="50800" lIns="50800" bIns="50800" rIns="50800"/>
              <a:lstStyle/>
              <a:p>
                <a:pPr algn="ctr">
                  <a:lnSpc>
                    <a:spcPts val="3360"/>
                  </a:lnSpc>
                </a:pPr>
              </a:p>
            </p:txBody>
          </p:sp>
        </p:grpSp>
        <p:sp>
          <p:nvSpPr>
            <p:cNvPr name="TextBox 17" id="17"/>
            <p:cNvSpPr txBox="true"/>
            <p:nvPr/>
          </p:nvSpPr>
          <p:spPr>
            <a:xfrm rot="0">
              <a:off x="534752" y="323057"/>
              <a:ext cx="6848184" cy="2161963"/>
            </a:xfrm>
            <a:prstGeom prst="rect">
              <a:avLst/>
            </a:prstGeom>
          </p:spPr>
          <p:txBody>
            <a:bodyPr anchor="t" rtlCol="false" tIns="0" lIns="0" bIns="0" rIns="0">
              <a:spAutoFit/>
            </a:bodyPr>
            <a:lstStyle/>
            <a:p>
              <a:pPr algn="l">
                <a:lnSpc>
                  <a:spcPts val="3359"/>
                </a:lnSpc>
              </a:pPr>
              <a:r>
                <a:rPr lang="en-US" sz="2399">
                  <a:solidFill>
                    <a:srgbClr val="E9E1DB"/>
                  </a:solidFill>
                  <a:latin typeface="Glacial Indifference"/>
                  <a:ea typeface="Glacial Indifference"/>
                  <a:cs typeface="Glacial Indifference"/>
                  <a:sym typeface="Glacial Indifference"/>
                </a:rPr>
                <a:t>Behavioral Trust-Building</a:t>
              </a:r>
            </a:p>
            <a:p>
              <a:pPr algn="l">
                <a:lnSpc>
                  <a:spcPts val="3359"/>
                </a:lnSpc>
              </a:pPr>
              <a:r>
                <a:rPr lang="en-US" sz="2399">
                  <a:solidFill>
                    <a:srgbClr val="E9E1DB"/>
                  </a:solidFill>
                  <a:latin typeface="Glacial Indifference"/>
                  <a:ea typeface="Glacial Indifference"/>
                  <a:cs typeface="Glacial Indifference"/>
                  <a:sym typeface="Glacial Indifference"/>
                </a:rPr>
                <a:t>Consistency replaces brand legacy</a:t>
              </a:r>
            </a:p>
            <a:p>
              <a:pPr algn="l" marL="0" indent="0" lvl="0">
                <a:lnSpc>
                  <a:spcPts val="3220"/>
                </a:lnSpc>
              </a:pPr>
            </a:p>
            <a:p>
              <a:pPr algn="l">
                <a:lnSpc>
                  <a:spcPts val="3220"/>
                </a:lnSpc>
              </a:pPr>
            </a:p>
          </p:txBody>
        </p:sp>
      </p:grpSp>
      <p:grpSp>
        <p:nvGrpSpPr>
          <p:cNvPr name="Group 18" id="18"/>
          <p:cNvGrpSpPr/>
          <p:nvPr/>
        </p:nvGrpSpPr>
        <p:grpSpPr>
          <a:xfrm rot="-1182178">
            <a:off x="14470368" y="2361044"/>
            <a:ext cx="13689960" cy="1554646"/>
            <a:chOff x="0" y="0"/>
            <a:chExt cx="5368038" cy="609600"/>
          </a:xfrm>
        </p:grpSpPr>
        <p:sp>
          <p:nvSpPr>
            <p:cNvPr name="Freeform 19" id="19"/>
            <p:cNvSpPr/>
            <p:nvPr/>
          </p:nvSpPr>
          <p:spPr>
            <a:xfrm flipH="false" flipV="false" rot="0">
              <a:off x="0" y="0"/>
              <a:ext cx="5368038" cy="609600"/>
            </a:xfrm>
            <a:custGeom>
              <a:avLst/>
              <a:gdLst/>
              <a:ahLst/>
              <a:cxnLst/>
              <a:rect r="r" b="b" t="t" l="l"/>
              <a:pathLst>
                <a:path h="609600" w="5368038">
                  <a:moveTo>
                    <a:pt x="5164838" y="0"/>
                  </a:moveTo>
                  <a:lnTo>
                    <a:pt x="0" y="0"/>
                  </a:lnTo>
                  <a:lnTo>
                    <a:pt x="203200" y="609600"/>
                  </a:lnTo>
                  <a:lnTo>
                    <a:pt x="5368038" y="609600"/>
                  </a:lnTo>
                  <a:lnTo>
                    <a:pt x="5164838" y="0"/>
                  </a:lnTo>
                  <a:close/>
                </a:path>
              </a:pathLst>
            </a:custGeom>
            <a:solidFill>
              <a:srgbClr val="FFFFFF"/>
            </a:solidFill>
          </p:spPr>
        </p:sp>
        <p:sp>
          <p:nvSpPr>
            <p:cNvPr name="TextBox 20" id="20"/>
            <p:cNvSpPr txBox="true"/>
            <p:nvPr/>
          </p:nvSpPr>
          <p:spPr>
            <a:xfrm>
              <a:off x="101600" y="-38100"/>
              <a:ext cx="5164838" cy="6477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1707949">
            <a:off x="14840810" y="2325396"/>
            <a:ext cx="6894380" cy="1625941"/>
            <a:chOff x="0" y="0"/>
            <a:chExt cx="3024458" cy="713275"/>
          </a:xfrm>
        </p:grpSpPr>
        <p:sp>
          <p:nvSpPr>
            <p:cNvPr name="Freeform 22" id="22"/>
            <p:cNvSpPr/>
            <p:nvPr/>
          </p:nvSpPr>
          <p:spPr>
            <a:xfrm flipH="false" flipV="false" rot="0">
              <a:off x="0" y="0"/>
              <a:ext cx="3024458" cy="713275"/>
            </a:xfrm>
            <a:custGeom>
              <a:avLst/>
              <a:gdLst/>
              <a:ahLst/>
              <a:cxnLst/>
              <a:rect r="r" b="b" t="t" l="l"/>
              <a:pathLst>
                <a:path h="713275" w="3024458">
                  <a:moveTo>
                    <a:pt x="203200" y="0"/>
                  </a:moveTo>
                  <a:lnTo>
                    <a:pt x="3024458" y="0"/>
                  </a:lnTo>
                  <a:lnTo>
                    <a:pt x="2821258" y="713275"/>
                  </a:lnTo>
                  <a:lnTo>
                    <a:pt x="0" y="713275"/>
                  </a:lnTo>
                  <a:lnTo>
                    <a:pt x="203200" y="0"/>
                  </a:lnTo>
                  <a:close/>
                </a:path>
              </a:pathLst>
            </a:custGeom>
            <a:solidFill>
              <a:srgbClr val="3D3735"/>
            </a:solidFill>
          </p:spPr>
        </p:sp>
        <p:sp>
          <p:nvSpPr>
            <p:cNvPr name="TextBox 23" id="23"/>
            <p:cNvSpPr txBox="true"/>
            <p:nvPr/>
          </p:nvSpPr>
          <p:spPr>
            <a:xfrm>
              <a:off x="101600" y="-38100"/>
              <a:ext cx="2821258" cy="751375"/>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0183682" y="442427"/>
            <a:ext cx="7428315" cy="4495508"/>
            <a:chOff x="0" y="0"/>
            <a:chExt cx="1106640" cy="669723"/>
          </a:xfrm>
        </p:grpSpPr>
        <p:sp>
          <p:nvSpPr>
            <p:cNvPr name="Freeform 25" id="25"/>
            <p:cNvSpPr/>
            <p:nvPr/>
          </p:nvSpPr>
          <p:spPr>
            <a:xfrm flipH="false" flipV="false" rot="0">
              <a:off x="0" y="0"/>
              <a:ext cx="1106640" cy="669723"/>
            </a:xfrm>
            <a:custGeom>
              <a:avLst/>
              <a:gdLst/>
              <a:ahLst/>
              <a:cxnLst/>
              <a:rect r="r" b="b" t="t" l="l"/>
              <a:pathLst>
                <a:path h="669723" w="1106640">
                  <a:moveTo>
                    <a:pt x="23971" y="0"/>
                  </a:moveTo>
                  <a:lnTo>
                    <a:pt x="1082669" y="0"/>
                  </a:lnTo>
                  <a:cubicBezTo>
                    <a:pt x="1095908" y="0"/>
                    <a:pt x="1106640" y="10732"/>
                    <a:pt x="1106640" y="23971"/>
                  </a:cubicBezTo>
                  <a:lnTo>
                    <a:pt x="1106640" y="645752"/>
                  </a:lnTo>
                  <a:cubicBezTo>
                    <a:pt x="1106640" y="652109"/>
                    <a:pt x="1104115" y="658206"/>
                    <a:pt x="1099620" y="662702"/>
                  </a:cubicBezTo>
                  <a:cubicBezTo>
                    <a:pt x="1095124" y="667197"/>
                    <a:pt x="1089027" y="669723"/>
                    <a:pt x="1082669" y="669723"/>
                  </a:cubicBezTo>
                  <a:lnTo>
                    <a:pt x="23971" y="669723"/>
                  </a:lnTo>
                  <a:cubicBezTo>
                    <a:pt x="10732" y="669723"/>
                    <a:pt x="0" y="658991"/>
                    <a:pt x="0" y="645752"/>
                  </a:cubicBezTo>
                  <a:lnTo>
                    <a:pt x="0" y="23971"/>
                  </a:lnTo>
                  <a:cubicBezTo>
                    <a:pt x="0" y="17613"/>
                    <a:pt x="2526" y="11516"/>
                    <a:pt x="7021" y="7021"/>
                  </a:cubicBezTo>
                  <a:cubicBezTo>
                    <a:pt x="11516" y="2526"/>
                    <a:pt x="17613" y="0"/>
                    <a:pt x="23971" y="0"/>
                  </a:cubicBezTo>
                  <a:close/>
                </a:path>
              </a:pathLst>
            </a:custGeom>
            <a:blipFill>
              <a:blip r:embed="rId6"/>
              <a:stretch>
                <a:fillRect l="0" t="-5045" r="0" b="-5045"/>
              </a:stretch>
            </a:blipFill>
          </p:spPr>
        </p:sp>
      </p:grpSp>
      <p:grpSp>
        <p:nvGrpSpPr>
          <p:cNvPr name="Group 26" id="26"/>
          <p:cNvGrpSpPr/>
          <p:nvPr/>
        </p:nvGrpSpPr>
        <p:grpSpPr>
          <a:xfrm rot="0">
            <a:off x="13010341" y="5143500"/>
            <a:ext cx="4838220" cy="2567342"/>
            <a:chOff x="0" y="0"/>
            <a:chExt cx="6450960" cy="3423123"/>
          </a:xfrm>
        </p:grpSpPr>
        <p:grpSp>
          <p:nvGrpSpPr>
            <p:cNvPr name="Group 27" id="27"/>
            <p:cNvGrpSpPr/>
            <p:nvPr/>
          </p:nvGrpSpPr>
          <p:grpSpPr>
            <a:xfrm rot="0">
              <a:off x="0" y="0"/>
              <a:ext cx="6450960" cy="3423123"/>
              <a:chOff x="0" y="0"/>
              <a:chExt cx="1186471" cy="629587"/>
            </a:xfrm>
          </p:grpSpPr>
          <p:sp>
            <p:nvSpPr>
              <p:cNvPr name="Freeform 28" id="28"/>
              <p:cNvSpPr/>
              <p:nvPr/>
            </p:nvSpPr>
            <p:spPr>
              <a:xfrm flipH="false" flipV="false" rot="0">
                <a:off x="0" y="0"/>
                <a:ext cx="1186471" cy="629587"/>
              </a:xfrm>
              <a:custGeom>
                <a:avLst/>
                <a:gdLst/>
                <a:ahLst/>
                <a:cxnLst/>
                <a:rect r="r" b="b" t="t" l="l"/>
                <a:pathLst>
                  <a:path h="629587" w="1186471">
                    <a:moveTo>
                      <a:pt x="37252" y="0"/>
                    </a:moveTo>
                    <a:lnTo>
                      <a:pt x="1149219" y="0"/>
                    </a:lnTo>
                    <a:cubicBezTo>
                      <a:pt x="1169793" y="0"/>
                      <a:pt x="1186471" y="16678"/>
                      <a:pt x="1186471" y="37252"/>
                    </a:cubicBezTo>
                    <a:lnTo>
                      <a:pt x="1186471" y="592334"/>
                    </a:lnTo>
                    <a:cubicBezTo>
                      <a:pt x="1186471" y="602214"/>
                      <a:pt x="1182547" y="611690"/>
                      <a:pt x="1175561" y="618676"/>
                    </a:cubicBezTo>
                    <a:cubicBezTo>
                      <a:pt x="1168574" y="625662"/>
                      <a:pt x="1159099" y="629587"/>
                      <a:pt x="1149219" y="629587"/>
                    </a:cubicBezTo>
                    <a:lnTo>
                      <a:pt x="37252" y="629587"/>
                    </a:lnTo>
                    <a:cubicBezTo>
                      <a:pt x="27372" y="629587"/>
                      <a:pt x="17897" y="625662"/>
                      <a:pt x="10911" y="618676"/>
                    </a:cubicBezTo>
                    <a:cubicBezTo>
                      <a:pt x="3925" y="611690"/>
                      <a:pt x="0" y="602214"/>
                      <a:pt x="0" y="592334"/>
                    </a:cubicBezTo>
                    <a:lnTo>
                      <a:pt x="0" y="37252"/>
                    </a:lnTo>
                    <a:cubicBezTo>
                      <a:pt x="0" y="27372"/>
                      <a:pt x="3925" y="17897"/>
                      <a:pt x="10911" y="10911"/>
                    </a:cubicBezTo>
                    <a:cubicBezTo>
                      <a:pt x="17897" y="3925"/>
                      <a:pt x="27372" y="0"/>
                      <a:pt x="37252" y="0"/>
                    </a:cubicBezTo>
                    <a:close/>
                  </a:path>
                </a:pathLst>
              </a:custGeom>
              <a:solidFill>
                <a:srgbClr val="3D3735"/>
              </a:solidFill>
              <a:ln cap="rnd">
                <a:noFill/>
                <a:prstDash val="solid"/>
                <a:round/>
              </a:ln>
            </p:spPr>
          </p:sp>
          <p:sp>
            <p:nvSpPr>
              <p:cNvPr name="TextBox 29" id="29"/>
              <p:cNvSpPr txBox="true"/>
              <p:nvPr/>
            </p:nvSpPr>
            <p:spPr>
              <a:xfrm>
                <a:off x="0" y="-57150"/>
                <a:ext cx="1186471" cy="686737"/>
              </a:xfrm>
              <a:prstGeom prst="rect">
                <a:avLst/>
              </a:prstGeom>
            </p:spPr>
            <p:txBody>
              <a:bodyPr anchor="ctr" rtlCol="false" tIns="50800" lIns="50800" bIns="50800" rIns="50800"/>
              <a:lstStyle/>
              <a:p>
                <a:pPr algn="ctr">
                  <a:lnSpc>
                    <a:spcPts val="3359"/>
                  </a:lnSpc>
                </a:pPr>
              </a:p>
            </p:txBody>
          </p:sp>
        </p:grpSp>
        <p:sp>
          <p:nvSpPr>
            <p:cNvPr name="TextBox 30" id="30"/>
            <p:cNvSpPr txBox="true"/>
            <p:nvPr/>
          </p:nvSpPr>
          <p:spPr>
            <a:xfrm rot="0">
              <a:off x="467248" y="339637"/>
              <a:ext cx="5983712" cy="2211070"/>
            </a:xfrm>
            <a:prstGeom prst="rect">
              <a:avLst/>
            </a:prstGeom>
          </p:spPr>
          <p:txBody>
            <a:bodyPr anchor="t" rtlCol="false" tIns="0" lIns="0" bIns="0" rIns="0">
              <a:spAutoFit/>
            </a:bodyPr>
            <a:lstStyle/>
            <a:p>
              <a:pPr algn="l" marL="0" indent="0" lvl="0">
                <a:lnSpc>
                  <a:spcPts val="3359"/>
                </a:lnSpc>
              </a:pPr>
              <a:r>
                <a:rPr lang="en-US" sz="2400">
                  <a:solidFill>
                    <a:srgbClr val="E9E1DB"/>
                  </a:solidFill>
                  <a:latin typeface="Glacial Indifference"/>
                  <a:ea typeface="Glacial Indifference"/>
                  <a:cs typeface="Glacial Indifference"/>
                  <a:sym typeface="Glacial Indifference"/>
                </a:rPr>
                <a:t>E</a:t>
              </a:r>
              <a:r>
                <a:rPr lang="en-US" sz="2400">
                  <a:solidFill>
                    <a:srgbClr val="E9E1DB"/>
                  </a:solidFill>
                  <a:latin typeface="Glacial Indifference"/>
                  <a:ea typeface="Glacial Indifference"/>
                  <a:cs typeface="Glacial Indifference"/>
                  <a:sym typeface="Glacial Indifference"/>
                </a:rPr>
                <a:t>cosystem Integration</a:t>
              </a:r>
            </a:p>
            <a:p>
              <a:pPr algn="l" marL="0" indent="0" lvl="0">
                <a:lnSpc>
                  <a:spcPts val="3359"/>
                </a:lnSpc>
              </a:pPr>
              <a:r>
                <a:rPr lang="en-US" sz="2400">
                  <a:solidFill>
                    <a:srgbClr val="E9E1DB"/>
                  </a:solidFill>
                  <a:latin typeface="Glacial Indifference"/>
                  <a:ea typeface="Glacial Indifference"/>
                  <a:cs typeface="Glacial Indifference"/>
                  <a:sym typeface="Glacial Indifference"/>
                </a:rPr>
                <a:t>Embed into existing financial behavior</a:t>
              </a:r>
            </a:p>
            <a:p>
              <a:pPr algn="l">
                <a:lnSpc>
                  <a:spcPts val="3359"/>
                </a:lnSpc>
              </a:pPr>
            </a:p>
          </p:txBody>
        </p:sp>
      </p:grpSp>
      <p:grpSp>
        <p:nvGrpSpPr>
          <p:cNvPr name="Group 31" id="31"/>
          <p:cNvGrpSpPr/>
          <p:nvPr/>
        </p:nvGrpSpPr>
        <p:grpSpPr>
          <a:xfrm rot="8711618">
            <a:off x="-2468941" y="9870848"/>
            <a:ext cx="6894380" cy="1625941"/>
            <a:chOff x="0" y="0"/>
            <a:chExt cx="3024458" cy="713275"/>
          </a:xfrm>
        </p:grpSpPr>
        <p:sp>
          <p:nvSpPr>
            <p:cNvPr name="Freeform 32" id="32"/>
            <p:cNvSpPr/>
            <p:nvPr/>
          </p:nvSpPr>
          <p:spPr>
            <a:xfrm flipH="false" flipV="false" rot="0">
              <a:off x="0" y="0"/>
              <a:ext cx="3024458" cy="713275"/>
            </a:xfrm>
            <a:custGeom>
              <a:avLst/>
              <a:gdLst/>
              <a:ahLst/>
              <a:cxnLst/>
              <a:rect r="r" b="b" t="t" l="l"/>
              <a:pathLst>
                <a:path h="713275" w="3024458">
                  <a:moveTo>
                    <a:pt x="203200" y="0"/>
                  </a:moveTo>
                  <a:lnTo>
                    <a:pt x="3024458" y="0"/>
                  </a:lnTo>
                  <a:lnTo>
                    <a:pt x="2821258" y="713275"/>
                  </a:lnTo>
                  <a:lnTo>
                    <a:pt x="0" y="713275"/>
                  </a:lnTo>
                  <a:lnTo>
                    <a:pt x="203200" y="0"/>
                  </a:lnTo>
                  <a:close/>
                </a:path>
              </a:pathLst>
            </a:custGeom>
            <a:solidFill>
              <a:srgbClr val="3D3735"/>
            </a:solidFill>
          </p:spPr>
        </p:sp>
        <p:sp>
          <p:nvSpPr>
            <p:cNvPr name="TextBox 33" id="33"/>
            <p:cNvSpPr txBox="true"/>
            <p:nvPr/>
          </p:nvSpPr>
          <p:spPr>
            <a:xfrm>
              <a:off x="101600" y="-38100"/>
              <a:ext cx="2821258" cy="751375"/>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10800000">
            <a:off x="-10013261" y="8048627"/>
            <a:ext cx="13898056" cy="1578278"/>
            <a:chOff x="0" y="0"/>
            <a:chExt cx="5368038" cy="609600"/>
          </a:xfrm>
        </p:grpSpPr>
        <p:sp>
          <p:nvSpPr>
            <p:cNvPr name="Freeform 35" id="35"/>
            <p:cNvSpPr/>
            <p:nvPr/>
          </p:nvSpPr>
          <p:spPr>
            <a:xfrm flipH="false" flipV="false" rot="0">
              <a:off x="0" y="0"/>
              <a:ext cx="5368038" cy="609600"/>
            </a:xfrm>
            <a:custGeom>
              <a:avLst/>
              <a:gdLst/>
              <a:ahLst/>
              <a:cxnLst/>
              <a:rect r="r" b="b" t="t" l="l"/>
              <a:pathLst>
                <a:path h="609600" w="5368038">
                  <a:moveTo>
                    <a:pt x="5164838" y="0"/>
                  </a:moveTo>
                  <a:lnTo>
                    <a:pt x="0" y="0"/>
                  </a:lnTo>
                  <a:lnTo>
                    <a:pt x="203200" y="609600"/>
                  </a:lnTo>
                  <a:lnTo>
                    <a:pt x="5368038" y="609600"/>
                  </a:lnTo>
                  <a:lnTo>
                    <a:pt x="5164838" y="0"/>
                  </a:lnTo>
                  <a:close/>
                </a:path>
              </a:pathLst>
            </a:custGeom>
            <a:solidFill>
              <a:srgbClr val="FFFFFF"/>
            </a:solidFill>
          </p:spPr>
        </p:sp>
        <p:sp>
          <p:nvSpPr>
            <p:cNvPr name="TextBox 36" id="36"/>
            <p:cNvSpPr txBox="true"/>
            <p:nvPr/>
          </p:nvSpPr>
          <p:spPr>
            <a:xfrm>
              <a:off x="101600" y="-38100"/>
              <a:ext cx="5164838" cy="6477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9E1DB"/>
        </a:solidFill>
      </p:bgPr>
    </p:bg>
    <p:spTree>
      <p:nvGrpSpPr>
        <p:cNvPr id="1" name=""/>
        <p:cNvGrpSpPr/>
        <p:nvPr/>
      </p:nvGrpSpPr>
      <p:grpSpPr>
        <a:xfrm>
          <a:off x="0" y="0"/>
          <a:ext cx="0" cy="0"/>
          <a:chOff x="0" y="0"/>
          <a:chExt cx="0" cy="0"/>
        </a:xfrm>
      </p:grpSpPr>
      <p:grpSp>
        <p:nvGrpSpPr>
          <p:cNvPr name="Group 2" id="2"/>
          <p:cNvGrpSpPr/>
          <p:nvPr/>
        </p:nvGrpSpPr>
        <p:grpSpPr>
          <a:xfrm rot="8711618">
            <a:off x="923624" y="8108520"/>
            <a:ext cx="6894380" cy="886698"/>
            <a:chOff x="0" y="0"/>
            <a:chExt cx="3024458" cy="388981"/>
          </a:xfrm>
        </p:grpSpPr>
        <p:sp>
          <p:nvSpPr>
            <p:cNvPr name="Freeform 3" id="3"/>
            <p:cNvSpPr/>
            <p:nvPr/>
          </p:nvSpPr>
          <p:spPr>
            <a:xfrm flipH="false" flipV="false" rot="0">
              <a:off x="0" y="0"/>
              <a:ext cx="3024458" cy="388981"/>
            </a:xfrm>
            <a:custGeom>
              <a:avLst/>
              <a:gdLst/>
              <a:ahLst/>
              <a:cxnLst/>
              <a:rect r="r" b="b" t="t" l="l"/>
              <a:pathLst>
                <a:path h="388981" w="3024458">
                  <a:moveTo>
                    <a:pt x="203200" y="0"/>
                  </a:moveTo>
                  <a:lnTo>
                    <a:pt x="3024458" y="0"/>
                  </a:lnTo>
                  <a:lnTo>
                    <a:pt x="2821258" y="388981"/>
                  </a:lnTo>
                  <a:lnTo>
                    <a:pt x="0" y="388981"/>
                  </a:lnTo>
                  <a:lnTo>
                    <a:pt x="203200" y="0"/>
                  </a:lnTo>
                  <a:close/>
                </a:path>
              </a:pathLst>
            </a:custGeom>
            <a:solidFill>
              <a:srgbClr val="3D3735"/>
            </a:solidFill>
          </p:spPr>
        </p:sp>
        <p:sp>
          <p:nvSpPr>
            <p:cNvPr name="TextBox 4" id="4"/>
            <p:cNvSpPr txBox="true"/>
            <p:nvPr/>
          </p:nvSpPr>
          <p:spPr>
            <a:xfrm>
              <a:off x="101600" y="-38100"/>
              <a:ext cx="2821258" cy="42708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331261" y="-376422"/>
            <a:ext cx="4822222" cy="11369911"/>
            <a:chOff x="0" y="0"/>
            <a:chExt cx="560316" cy="1321123"/>
          </a:xfrm>
        </p:grpSpPr>
        <p:sp>
          <p:nvSpPr>
            <p:cNvPr name="Freeform 6" id="6"/>
            <p:cNvSpPr/>
            <p:nvPr/>
          </p:nvSpPr>
          <p:spPr>
            <a:xfrm flipH="false" flipV="false" rot="0">
              <a:off x="0" y="0"/>
              <a:ext cx="560316" cy="1321123"/>
            </a:xfrm>
            <a:custGeom>
              <a:avLst/>
              <a:gdLst/>
              <a:ahLst/>
              <a:cxnLst/>
              <a:rect r="r" b="b" t="t" l="l"/>
              <a:pathLst>
                <a:path h="1321123" w="560316">
                  <a:moveTo>
                    <a:pt x="357116" y="0"/>
                  </a:moveTo>
                  <a:lnTo>
                    <a:pt x="0" y="0"/>
                  </a:lnTo>
                  <a:lnTo>
                    <a:pt x="203200" y="1321123"/>
                  </a:lnTo>
                  <a:lnTo>
                    <a:pt x="560316" y="1321123"/>
                  </a:lnTo>
                  <a:lnTo>
                    <a:pt x="357116" y="0"/>
                  </a:lnTo>
                  <a:close/>
                </a:path>
              </a:pathLst>
            </a:custGeom>
            <a:blipFill>
              <a:blip r:embed="rId2"/>
              <a:stretch>
                <a:fillRect l="-218444" t="0" r="-35449" b="0"/>
              </a:stretch>
            </a:blipFill>
          </p:spPr>
        </p:sp>
      </p:grpSp>
      <p:grpSp>
        <p:nvGrpSpPr>
          <p:cNvPr name="Group 7" id="7"/>
          <p:cNvGrpSpPr/>
          <p:nvPr/>
        </p:nvGrpSpPr>
        <p:grpSpPr>
          <a:xfrm rot="0">
            <a:off x="-1817004" y="3944287"/>
            <a:ext cx="4822222" cy="11369911"/>
            <a:chOff x="0" y="0"/>
            <a:chExt cx="560316" cy="1321123"/>
          </a:xfrm>
        </p:grpSpPr>
        <p:sp>
          <p:nvSpPr>
            <p:cNvPr name="Freeform 8" id="8"/>
            <p:cNvSpPr/>
            <p:nvPr/>
          </p:nvSpPr>
          <p:spPr>
            <a:xfrm flipH="false" flipV="false" rot="0">
              <a:off x="0" y="0"/>
              <a:ext cx="560316" cy="1321123"/>
            </a:xfrm>
            <a:custGeom>
              <a:avLst/>
              <a:gdLst/>
              <a:ahLst/>
              <a:cxnLst/>
              <a:rect r="r" b="b" t="t" l="l"/>
              <a:pathLst>
                <a:path h="1321123" w="560316">
                  <a:moveTo>
                    <a:pt x="357116" y="0"/>
                  </a:moveTo>
                  <a:lnTo>
                    <a:pt x="0" y="0"/>
                  </a:lnTo>
                  <a:lnTo>
                    <a:pt x="203200" y="1321123"/>
                  </a:lnTo>
                  <a:lnTo>
                    <a:pt x="560316" y="1321123"/>
                  </a:lnTo>
                  <a:lnTo>
                    <a:pt x="357116" y="0"/>
                  </a:lnTo>
                  <a:close/>
                </a:path>
              </a:pathLst>
            </a:custGeom>
            <a:blipFill>
              <a:blip r:embed="rId2"/>
              <a:stretch>
                <a:fillRect l="-100954" t="-20917" r="-247922" b="-5770"/>
              </a:stretch>
            </a:blipFill>
          </p:spPr>
        </p:sp>
      </p:grpSp>
      <p:grpSp>
        <p:nvGrpSpPr>
          <p:cNvPr name="Group 9" id="9"/>
          <p:cNvGrpSpPr/>
          <p:nvPr/>
        </p:nvGrpSpPr>
        <p:grpSpPr>
          <a:xfrm rot="-10800000">
            <a:off x="-6548512" y="6220169"/>
            <a:ext cx="14021881" cy="986429"/>
            <a:chOff x="0" y="0"/>
            <a:chExt cx="5368038" cy="377638"/>
          </a:xfrm>
        </p:grpSpPr>
        <p:sp>
          <p:nvSpPr>
            <p:cNvPr name="Freeform 10" id="10"/>
            <p:cNvSpPr/>
            <p:nvPr/>
          </p:nvSpPr>
          <p:spPr>
            <a:xfrm flipH="false" flipV="false" rot="0">
              <a:off x="0" y="0"/>
              <a:ext cx="5368038" cy="377638"/>
            </a:xfrm>
            <a:custGeom>
              <a:avLst/>
              <a:gdLst/>
              <a:ahLst/>
              <a:cxnLst/>
              <a:rect r="r" b="b" t="t" l="l"/>
              <a:pathLst>
                <a:path h="377638" w="5368038">
                  <a:moveTo>
                    <a:pt x="5164838" y="0"/>
                  </a:moveTo>
                  <a:lnTo>
                    <a:pt x="0" y="0"/>
                  </a:lnTo>
                  <a:lnTo>
                    <a:pt x="203200" y="377638"/>
                  </a:lnTo>
                  <a:lnTo>
                    <a:pt x="5368038" y="377638"/>
                  </a:lnTo>
                  <a:lnTo>
                    <a:pt x="5164838" y="0"/>
                  </a:lnTo>
                  <a:close/>
                </a:path>
              </a:pathLst>
            </a:custGeom>
            <a:solidFill>
              <a:srgbClr val="FFFFFF"/>
            </a:solidFill>
          </p:spPr>
        </p:sp>
        <p:sp>
          <p:nvSpPr>
            <p:cNvPr name="TextBox 11" id="11"/>
            <p:cNvSpPr txBox="true"/>
            <p:nvPr/>
          </p:nvSpPr>
          <p:spPr>
            <a:xfrm>
              <a:off x="101600" y="-38100"/>
              <a:ext cx="5164838" cy="415738"/>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2088381">
            <a:off x="14899827" y="2823637"/>
            <a:ext cx="6791151" cy="1601596"/>
            <a:chOff x="0" y="0"/>
            <a:chExt cx="3024458" cy="713275"/>
          </a:xfrm>
        </p:grpSpPr>
        <p:sp>
          <p:nvSpPr>
            <p:cNvPr name="Freeform 13" id="13"/>
            <p:cNvSpPr/>
            <p:nvPr/>
          </p:nvSpPr>
          <p:spPr>
            <a:xfrm flipH="false" flipV="false" rot="0">
              <a:off x="0" y="0"/>
              <a:ext cx="3024458" cy="713275"/>
            </a:xfrm>
            <a:custGeom>
              <a:avLst/>
              <a:gdLst/>
              <a:ahLst/>
              <a:cxnLst/>
              <a:rect r="r" b="b" t="t" l="l"/>
              <a:pathLst>
                <a:path h="713275" w="3024458">
                  <a:moveTo>
                    <a:pt x="203200" y="0"/>
                  </a:moveTo>
                  <a:lnTo>
                    <a:pt x="3024458" y="0"/>
                  </a:lnTo>
                  <a:lnTo>
                    <a:pt x="2821258" y="713275"/>
                  </a:lnTo>
                  <a:lnTo>
                    <a:pt x="0" y="713275"/>
                  </a:lnTo>
                  <a:lnTo>
                    <a:pt x="203200" y="0"/>
                  </a:lnTo>
                  <a:close/>
                </a:path>
              </a:pathLst>
            </a:custGeom>
            <a:solidFill>
              <a:srgbClr val="66574D"/>
            </a:solidFill>
          </p:spPr>
        </p:sp>
        <p:sp>
          <p:nvSpPr>
            <p:cNvPr name="TextBox 14" id="14"/>
            <p:cNvSpPr txBox="true"/>
            <p:nvPr/>
          </p:nvSpPr>
          <p:spPr>
            <a:xfrm>
              <a:off x="101600" y="-38100"/>
              <a:ext cx="2821258" cy="75137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278249" y="-1199744"/>
            <a:ext cx="4822222" cy="11369911"/>
            <a:chOff x="0" y="0"/>
            <a:chExt cx="560316" cy="1321123"/>
          </a:xfrm>
        </p:grpSpPr>
        <p:sp>
          <p:nvSpPr>
            <p:cNvPr name="Freeform 16" id="16"/>
            <p:cNvSpPr/>
            <p:nvPr/>
          </p:nvSpPr>
          <p:spPr>
            <a:xfrm flipH="false" flipV="false" rot="0">
              <a:off x="0" y="0"/>
              <a:ext cx="560316" cy="1321123"/>
            </a:xfrm>
            <a:custGeom>
              <a:avLst/>
              <a:gdLst/>
              <a:ahLst/>
              <a:cxnLst/>
              <a:rect r="r" b="b" t="t" l="l"/>
              <a:pathLst>
                <a:path h="1321123" w="560316">
                  <a:moveTo>
                    <a:pt x="357116" y="0"/>
                  </a:moveTo>
                  <a:lnTo>
                    <a:pt x="0" y="0"/>
                  </a:lnTo>
                  <a:lnTo>
                    <a:pt x="203200" y="1321123"/>
                  </a:lnTo>
                  <a:lnTo>
                    <a:pt x="560316" y="1321123"/>
                  </a:lnTo>
                  <a:lnTo>
                    <a:pt x="357116" y="0"/>
                  </a:lnTo>
                  <a:close/>
                </a:path>
              </a:pathLst>
            </a:custGeom>
            <a:blipFill>
              <a:blip r:embed="rId2"/>
              <a:stretch>
                <a:fillRect l="-239459" t="0" r="-14212" b="0"/>
              </a:stretch>
            </a:blipFill>
          </p:spPr>
        </p:sp>
      </p:grpSp>
      <p:grpSp>
        <p:nvGrpSpPr>
          <p:cNvPr name="Group 17" id="17"/>
          <p:cNvGrpSpPr/>
          <p:nvPr/>
        </p:nvGrpSpPr>
        <p:grpSpPr>
          <a:xfrm rot="0">
            <a:off x="15431629" y="4665523"/>
            <a:ext cx="13689960" cy="1554646"/>
            <a:chOff x="0" y="0"/>
            <a:chExt cx="5368038" cy="609600"/>
          </a:xfrm>
        </p:grpSpPr>
        <p:sp>
          <p:nvSpPr>
            <p:cNvPr name="Freeform 18" id="18"/>
            <p:cNvSpPr/>
            <p:nvPr/>
          </p:nvSpPr>
          <p:spPr>
            <a:xfrm flipH="false" flipV="false" rot="0">
              <a:off x="0" y="0"/>
              <a:ext cx="5368038" cy="609600"/>
            </a:xfrm>
            <a:custGeom>
              <a:avLst/>
              <a:gdLst/>
              <a:ahLst/>
              <a:cxnLst/>
              <a:rect r="r" b="b" t="t" l="l"/>
              <a:pathLst>
                <a:path h="609600" w="5368038">
                  <a:moveTo>
                    <a:pt x="5164838" y="0"/>
                  </a:moveTo>
                  <a:lnTo>
                    <a:pt x="0" y="0"/>
                  </a:lnTo>
                  <a:lnTo>
                    <a:pt x="203200" y="609600"/>
                  </a:lnTo>
                  <a:lnTo>
                    <a:pt x="5368038" y="609600"/>
                  </a:lnTo>
                  <a:lnTo>
                    <a:pt x="5164838" y="0"/>
                  </a:lnTo>
                  <a:close/>
                </a:path>
              </a:pathLst>
            </a:custGeom>
            <a:solidFill>
              <a:srgbClr val="FFFFFF"/>
            </a:solidFill>
          </p:spPr>
        </p:sp>
        <p:sp>
          <p:nvSpPr>
            <p:cNvPr name="TextBox 19" id="19"/>
            <p:cNvSpPr txBox="true"/>
            <p:nvPr/>
          </p:nvSpPr>
          <p:spPr>
            <a:xfrm>
              <a:off x="101600" y="-38100"/>
              <a:ext cx="5164838" cy="647700"/>
            </a:xfrm>
            <a:prstGeom prst="rect">
              <a:avLst/>
            </a:prstGeom>
          </p:spPr>
          <p:txBody>
            <a:bodyPr anchor="ctr" rtlCol="false" tIns="50800" lIns="50800" bIns="50800" rIns="50800"/>
            <a:lstStyle/>
            <a:p>
              <a:pPr algn="ctr">
                <a:lnSpc>
                  <a:spcPts val="2659"/>
                </a:lnSpc>
                <a:spcBef>
                  <a:spcPct val="0"/>
                </a:spcBef>
              </a:pPr>
            </a:p>
          </p:txBody>
        </p:sp>
      </p:grpSp>
      <p:sp>
        <p:nvSpPr>
          <p:cNvPr name="TextBox 20" id="20"/>
          <p:cNvSpPr txBox="true"/>
          <p:nvPr/>
        </p:nvSpPr>
        <p:spPr>
          <a:xfrm rot="0">
            <a:off x="7333934" y="3804140"/>
            <a:ext cx="6060792" cy="3768090"/>
          </a:xfrm>
          <a:prstGeom prst="rect">
            <a:avLst/>
          </a:prstGeom>
        </p:spPr>
        <p:txBody>
          <a:bodyPr anchor="t" rtlCol="false" tIns="0" lIns="0" bIns="0" rIns="0">
            <a:spAutoFit/>
          </a:bodyPr>
          <a:lstStyle/>
          <a:p>
            <a:pPr algn="just">
              <a:lnSpc>
                <a:spcPts val="3359"/>
              </a:lnSpc>
            </a:pPr>
            <a:r>
              <a:rPr lang="en-US" sz="2400">
                <a:solidFill>
                  <a:srgbClr val="66574D"/>
                </a:solidFill>
                <a:latin typeface="Glacial Indifference"/>
                <a:ea typeface="Glacial Indifference"/>
                <a:cs typeface="Glacial Indifference"/>
                <a:sym typeface="Glacial Indifference"/>
              </a:rPr>
              <a:t>Months 1 to 2</a:t>
            </a:r>
          </a:p>
          <a:p>
            <a:pPr algn="just">
              <a:lnSpc>
                <a:spcPts val="3359"/>
              </a:lnSpc>
            </a:pPr>
            <a:r>
              <a:rPr lang="en-US" sz="2400">
                <a:solidFill>
                  <a:srgbClr val="66574D"/>
                </a:solidFill>
                <a:latin typeface="Glacial Indifference"/>
                <a:ea typeface="Glacial Indifference"/>
                <a:cs typeface="Glacial Indifference"/>
                <a:sym typeface="Glacial Indifference"/>
              </a:rPr>
              <a:t>Start the mobile platform (basic version) </a:t>
            </a:r>
          </a:p>
          <a:p>
            <a:pPr algn="just">
              <a:lnSpc>
                <a:spcPts val="3359"/>
              </a:lnSpc>
            </a:pPr>
            <a:r>
              <a:rPr lang="en-US" sz="2400">
                <a:solidFill>
                  <a:srgbClr val="66574D"/>
                </a:solidFill>
                <a:latin typeface="Glacial Indifference"/>
                <a:ea typeface="Glacial Indifference"/>
                <a:cs typeface="Glacial Indifference"/>
                <a:sym typeface="Glacial Indifference"/>
              </a:rPr>
              <a:t>• Set up two or three test kiosks </a:t>
            </a:r>
          </a:p>
          <a:p>
            <a:pPr algn="just">
              <a:lnSpc>
                <a:spcPts val="3359"/>
              </a:lnSpc>
            </a:pPr>
            <a:r>
              <a:rPr lang="en-US" sz="2400">
                <a:solidFill>
                  <a:srgbClr val="66574D"/>
                </a:solidFill>
                <a:latin typeface="Glacial Indifference"/>
                <a:ea typeface="Glacial Indifference"/>
                <a:cs typeface="Glacial Indifference"/>
                <a:sym typeface="Glacial Indifference"/>
              </a:rPr>
              <a:t>Months 3 to 4</a:t>
            </a:r>
          </a:p>
          <a:p>
            <a:pPr algn="just">
              <a:lnSpc>
                <a:spcPts val="3359"/>
              </a:lnSpc>
            </a:pPr>
            <a:r>
              <a:rPr lang="en-US" sz="2400">
                <a:solidFill>
                  <a:srgbClr val="66574D"/>
                </a:solidFill>
                <a:latin typeface="Glacial Indifference"/>
                <a:ea typeface="Glacial Indifference"/>
                <a:cs typeface="Glacial Indifference"/>
                <a:sym typeface="Glacial Indifference"/>
              </a:rPr>
              <a:t>• Get early users (traders and workers) on board </a:t>
            </a:r>
          </a:p>
          <a:p>
            <a:pPr algn="just">
              <a:lnSpc>
                <a:spcPts val="3359"/>
              </a:lnSpc>
            </a:pPr>
            <a:r>
              <a:rPr lang="en-US" sz="2400">
                <a:solidFill>
                  <a:srgbClr val="66574D"/>
                </a:solidFill>
                <a:latin typeface="Glacial Indifference"/>
                <a:ea typeface="Glacial Indifference"/>
                <a:cs typeface="Glacial Indifference"/>
                <a:sym typeface="Glacial Indifference"/>
              </a:rPr>
              <a:t>• Begin with little loans ($50 to $500) </a:t>
            </a:r>
          </a:p>
          <a:p>
            <a:pPr algn="just">
              <a:lnSpc>
                <a:spcPts val="3359"/>
              </a:lnSpc>
            </a:pPr>
          </a:p>
          <a:p>
            <a:pPr algn="just">
              <a:lnSpc>
                <a:spcPts val="3359"/>
              </a:lnSpc>
            </a:pPr>
          </a:p>
        </p:txBody>
      </p:sp>
      <p:sp>
        <p:nvSpPr>
          <p:cNvPr name="TextBox 21" id="21"/>
          <p:cNvSpPr txBox="true"/>
          <p:nvPr/>
        </p:nvSpPr>
        <p:spPr>
          <a:xfrm rot="0">
            <a:off x="7333934" y="3358369"/>
            <a:ext cx="5360396" cy="464820"/>
          </a:xfrm>
          <a:prstGeom prst="rect">
            <a:avLst/>
          </a:prstGeom>
        </p:spPr>
        <p:txBody>
          <a:bodyPr anchor="t" rtlCol="false" tIns="0" lIns="0" bIns="0" rIns="0">
            <a:spAutoFit/>
          </a:bodyPr>
          <a:lstStyle/>
          <a:p>
            <a:pPr algn="just">
              <a:lnSpc>
                <a:spcPts val="3779"/>
              </a:lnSpc>
            </a:pPr>
            <a:r>
              <a:rPr lang="en-US" b="true" sz="2699">
                <a:solidFill>
                  <a:srgbClr val="66574D"/>
                </a:solidFill>
                <a:latin typeface="Glacial Indifference Bold"/>
                <a:ea typeface="Glacial Indifference Bold"/>
                <a:cs typeface="Glacial Indifference Bold"/>
                <a:sym typeface="Glacial Indifference Bold"/>
              </a:rPr>
              <a:t>FIRST 6 MONTH</a:t>
            </a:r>
          </a:p>
        </p:txBody>
      </p:sp>
      <p:sp>
        <p:nvSpPr>
          <p:cNvPr name="TextBox 22" id="22"/>
          <p:cNvSpPr txBox="true"/>
          <p:nvPr/>
        </p:nvSpPr>
        <p:spPr>
          <a:xfrm rot="0">
            <a:off x="10714528" y="7383329"/>
            <a:ext cx="5360396" cy="20916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66574D"/>
                </a:solidFill>
                <a:latin typeface="Glacial Indifference"/>
                <a:ea typeface="Glacial Indifference"/>
                <a:cs typeface="Glacial Indifference"/>
                <a:sym typeface="Glacial Indifference"/>
              </a:rPr>
              <a:t>Get information from users </a:t>
            </a:r>
          </a:p>
          <a:p>
            <a:pPr algn="just" marL="518160" indent="-259080" lvl="1">
              <a:lnSpc>
                <a:spcPts val="3359"/>
              </a:lnSpc>
              <a:buFont typeface="Arial"/>
              <a:buChar char="•"/>
            </a:pPr>
            <a:r>
              <a:rPr lang="en-US" sz="2400">
                <a:solidFill>
                  <a:srgbClr val="66574D"/>
                </a:solidFill>
                <a:latin typeface="Glacial Indifference"/>
                <a:ea typeface="Glacial Indifference"/>
                <a:cs typeface="Glacial Indifference"/>
                <a:sym typeface="Glacial Indifference"/>
              </a:rPr>
              <a:t>Make credit scores better </a:t>
            </a:r>
          </a:p>
          <a:p>
            <a:pPr algn="just" marL="518160" indent="-259080" lvl="1">
              <a:lnSpc>
                <a:spcPts val="3359"/>
              </a:lnSpc>
              <a:buFont typeface="Arial"/>
              <a:buChar char="•"/>
            </a:pPr>
            <a:r>
              <a:rPr lang="en-US" sz="2400">
                <a:solidFill>
                  <a:srgbClr val="66574D"/>
                </a:solidFill>
                <a:latin typeface="Glacial Indifference"/>
                <a:ea typeface="Glacial Indifference"/>
                <a:cs typeface="Glacial Indifference"/>
                <a:sym typeface="Glacial Indifference"/>
              </a:rPr>
              <a:t>Open up more places </a:t>
            </a:r>
          </a:p>
          <a:p>
            <a:pPr algn="just">
              <a:lnSpc>
                <a:spcPts val="3359"/>
              </a:lnSpc>
            </a:pPr>
          </a:p>
          <a:p>
            <a:pPr algn="just">
              <a:lnSpc>
                <a:spcPts val="3359"/>
              </a:lnSpc>
            </a:pPr>
          </a:p>
        </p:txBody>
      </p:sp>
      <p:sp>
        <p:nvSpPr>
          <p:cNvPr name="TextBox 23" id="23"/>
          <p:cNvSpPr txBox="true"/>
          <p:nvPr/>
        </p:nvSpPr>
        <p:spPr>
          <a:xfrm rot="0">
            <a:off x="10917854" y="6936902"/>
            <a:ext cx="5360396" cy="464820"/>
          </a:xfrm>
          <a:prstGeom prst="rect">
            <a:avLst/>
          </a:prstGeom>
        </p:spPr>
        <p:txBody>
          <a:bodyPr anchor="t" rtlCol="false" tIns="0" lIns="0" bIns="0" rIns="0">
            <a:spAutoFit/>
          </a:bodyPr>
          <a:lstStyle/>
          <a:p>
            <a:pPr algn="just">
              <a:lnSpc>
                <a:spcPts val="3779"/>
              </a:lnSpc>
            </a:pPr>
            <a:r>
              <a:rPr lang="en-US" b="true" sz="2699">
                <a:solidFill>
                  <a:srgbClr val="66574D"/>
                </a:solidFill>
                <a:latin typeface="Glacial Indifference Bold"/>
                <a:ea typeface="Glacial Indifference Bold"/>
                <a:cs typeface="Glacial Indifference Bold"/>
                <a:sym typeface="Glacial Indifference Bold"/>
              </a:rPr>
              <a:t>MONTHS 5–6</a:t>
            </a:r>
          </a:p>
        </p:txBody>
      </p:sp>
      <p:sp>
        <p:nvSpPr>
          <p:cNvPr name="TextBox 24" id="24"/>
          <p:cNvSpPr txBox="true"/>
          <p:nvPr/>
        </p:nvSpPr>
        <p:spPr>
          <a:xfrm rot="0">
            <a:off x="5304139" y="517766"/>
            <a:ext cx="10820778" cy="2397389"/>
          </a:xfrm>
          <a:prstGeom prst="rect">
            <a:avLst/>
          </a:prstGeom>
        </p:spPr>
        <p:txBody>
          <a:bodyPr anchor="t" rtlCol="false" tIns="0" lIns="0" bIns="0" rIns="0">
            <a:spAutoFit/>
          </a:bodyPr>
          <a:lstStyle/>
          <a:p>
            <a:pPr algn="ctr">
              <a:lnSpc>
                <a:spcPts val="9610"/>
              </a:lnSpc>
            </a:pPr>
            <a:r>
              <a:rPr lang="en-US" sz="6864">
                <a:solidFill>
                  <a:srgbClr val="66574D"/>
                </a:solidFill>
                <a:latin typeface="League Spartan"/>
                <a:ea typeface="League Spartan"/>
                <a:cs typeface="League Spartan"/>
                <a:sym typeface="League Spartan"/>
              </a:rPr>
              <a:t>MVP- FIRST 6 MONTHS PLAN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9E1DB"/>
        </a:solidFill>
      </p:bgPr>
    </p:bg>
    <p:spTree>
      <p:nvGrpSpPr>
        <p:cNvPr id="1" name=""/>
        <p:cNvGrpSpPr/>
        <p:nvPr/>
      </p:nvGrpSpPr>
      <p:grpSpPr>
        <a:xfrm>
          <a:off x="0" y="0"/>
          <a:ext cx="0" cy="0"/>
          <a:chOff x="0" y="0"/>
          <a:chExt cx="0" cy="0"/>
        </a:xfrm>
      </p:grpSpPr>
      <p:grpSp>
        <p:nvGrpSpPr>
          <p:cNvPr name="Group 2" id="2"/>
          <p:cNvGrpSpPr/>
          <p:nvPr/>
        </p:nvGrpSpPr>
        <p:grpSpPr>
          <a:xfrm rot="0">
            <a:off x="1699446" y="1282556"/>
            <a:ext cx="5899394" cy="7531108"/>
            <a:chOff x="0" y="0"/>
            <a:chExt cx="1764447" cy="2252476"/>
          </a:xfrm>
        </p:grpSpPr>
        <p:sp>
          <p:nvSpPr>
            <p:cNvPr name="Freeform 3" id="3"/>
            <p:cNvSpPr/>
            <p:nvPr/>
          </p:nvSpPr>
          <p:spPr>
            <a:xfrm flipH="false" flipV="false" rot="0">
              <a:off x="0" y="0"/>
              <a:ext cx="1764447" cy="2252474"/>
            </a:xfrm>
            <a:custGeom>
              <a:avLst/>
              <a:gdLst/>
              <a:ahLst/>
              <a:cxnLst/>
              <a:rect r="r" b="b" t="t" l="l"/>
              <a:pathLst>
                <a:path h="2252474" w="1764447">
                  <a:moveTo>
                    <a:pt x="1659577" y="0"/>
                  </a:moveTo>
                  <a:lnTo>
                    <a:pt x="104870" y="0"/>
                  </a:lnTo>
                  <a:cubicBezTo>
                    <a:pt x="46952" y="0"/>
                    <a:pt x="0" y="46952"/>
                    <a:pt x="0" y="104870"/>
                  </a:cubicBezTo>
                  <a:moveTo>
                    <a:pt x="0" y="464773"/>
                  </a:moveTo>
                  <a:lnTo>
                    <a:pt x="0" y="2147604"/>
                  </a:lnTo>
                  <a:cubicBezTo>
                    <a:pt x="1" y="2205522"/>
                    <a:pt x="46952" y="2252474"/>
                    <a:pt x="104870" y="2252474"/>
                  </a:cubicBezTo>
                  <a:lnTo>
                    <a:pt x="1185069" y="2252474"/>
                  </a:lnTo>
                  <a:cubicBezTo>
                    <a:pt x="1242987" y="2252474"/>
                    <a:pt x="1289939" y="2205523"/>
                    <a:pt x="1289940" y="2147605"/>
                  </a:cubicBezTo>
                  <a:lnTo>
                    <a:pt x="1289940" y="569643"/>
                  </a:lnTo>
                  <a:cubicBezTo>
                    <a:pt x="1289939" y="541830"/>
                    <a:pt x="1300988" y="515156"/>
                    <a:pt x="1320655" y="495488"/>
                  </a:cubicBezTo>
                  <a:cubicBezTo>
                    <a:pt x="1340322" y="475821"/>
                    <a:pt x="1366996" y="464773"/>
                    <a:pt x="1394810" y="464773"/>
                  </a:cubicBezTo>
                  <a:lnTo>
                    <a:pt x="1659577" y="464773"/>
                  </a:lnTo>
                  <a:cubicBezTo>
                    <a:pt x="1717495" y="464772"/>
                    <a:pt x="1764446" y="417821"/>
                    <a:pt x="1764447" y="359903"/>
                  </a:cubicBezTo>
                  <a:lnTo>
                    <a:pt x="1764447" y="104870"/>
                  </a:lnTo>
                  <a:cubicBezTo>
                    <a:pt x="1764447" y="46952"/>
                    <a:pt x="1717495" y="0"/>
                    <a:pt x="1659577" y="0"/>
                  </a:cubicBezTo>
                  <a:close/>
                </a:path>
              </a:pathLst>
            </a:custGeom>
            <a:blipFill>
              <a:blip r:embed="rId2"/>
              <a:stretch>
                <a:fillRect l="-74507" t="0" r="-16806" b="0"/>
              </a:stretch>
            </a:blipFill>
          </p:spPr>
        </p:sp>
      </p:grpSp>
      <p:grpSp>
        <p:nvGrpSpPr>
          <p:cNvPr name="Group 4" id="4"/>
          <p:cNvGrpSpPr/>
          <p:nvPr/>
        </p:nvGrpSpPr>
        <p:grpSpPr>
          <a:xfrm rot="0">
            <a:off x="11932551" y="-410504"/>
            <a:ext cx="5000576" cy="4170694"/>
            <a:chOff x="0" y="0"/>
            <a:chExt cx="774720" cy="646150"/>
          </a:xfrm>
        </p:grpSpPr>
        <p:sp>
          <p:nvSpPr>
            <p:cNvPr name="Freeform 5" id="5"/>
            <p:cNvSpPr/>
            <p:nvPr/>
          </p:nvSpPr>
          <p:spPr>
            <a:xfrm flipH="false" flipV="false" rot="0">
              <a:off x="0" y="0"/>
              <a:ext cx="774720" cy="646150"/>
            </a:xfrm>
            <a:custGeom>
              <a:avLst/>
              <a:gdLst/>
              <a:ahLst/>
              <a:cxnLst/>
              <a:rect r="r" b="b" t="t" l="l"/>
              <a:pathLst>
                <a:path h="646150" w="774720">
                  <a:moveTo>
                    <a:pt x="35609" y="0"/>
                  </a:moveTo>
                  <a:lnTo>
                    <a:pt x="739111" y="0"/>
                  </a:lnTo>
                  <a:cubicBezTo>
                    <a:pt x="758777" y="0"/>
                    <a:pt x="774720" y="15943"/>
                    <a:pt x="774720" y="35609"/>
                  </a:cubicBezTo>
                  <a:lnTo>
                    <a:pt x="774720" y="610541"/>
                  </a:lnTo>
                  <a:cubicBezTo>
                    <a:pt x="774720" y="630207"/>
                    <a:pt x="758777" y="646150"/>
                    <a:pt x="739111" y="646150"/>
                  </a:cubicBezTo>
                  <a:lnTo>
                    <a:pt x="35609" y="646150"/>
                  </a:lnTo>
                  <a:cubicBezTo>
                    <a:pt x="15943" y="646150"/>
                    <a:pt x="0" y="630207"/>
                    <a:pt x="0" y="610541"/>
                  </a:cubicBezTo>
                  <a:lnTo>
                    <a:pt x="0" y="35609"/>
                  </a:lnTo>
                  <a:cubicBezTo>
                    <a:pt x="0" y="15943"/>
                    <a:pt x="15943" y="0"/>
                    <a:pt x="35609" y="0"/>
                  </a:cubicBezTo>
                  <a:close/>
                </a:path>
              </a:pathLst>
            </a:custGeom>
            <a:blipFill>
              <a:blip r:embed="rId3"/>
              <a:stretch>
                <a:fillRect l="-12496" t="0" r="-12496" b="0"/>
              </a:stretch>
            </a:blipFill>
          </p:spPr>
        </p:sp>
      </p:grpSp>
      <p:grpSp>
        <p:nvGrpSpPr>
          <p:cNvPr name="Group 6" id="6"/>
          <p:cNvGrpSpPr/>
          <p:nvPr/>
        </p:nvGrpSpPr>
        <p:grpSpPr>
          <a:xfrm rot="0">
            <a:off x="7243938" y="6058116"/>
            <a:ext cx="5813197" cy="3372064"/>
            <a:chOff x="0" y="0"/>
            <a:chExt cx="1442944" cy="837009"/>
          </a:xfrm>
        </p:grpSpPr>
        <p:sp>
          <p:nvSpPr>
            <p:cNvPr name="Freeform 7" id="7"/>
            <p:cNvSpPr/>
            <p:nvPr/>
          </p:nvSpPr>
          <p:spPr>
            <a:xfrm flipH="false" flipV="false" rot="0">
              <a:off x="0" y="0"/>
              <a:ext cx="1442944" cy="837009"/>
            </a:xfrm>
            <a:custGeom>
              <a:avLst/>
              <a:gdLst/>
              <a:ahLst/>
              <a:cxnLst/>
              <a:rect r="r" b="b" t="t" l="l"/>
              <a:pathLst>
                <a:path h="837009" w="1442944">
                  <a:moveTo>
                    <a:pt x="30631" y="0"/>
                  </a:moveTo>
                  <a:lnTo>
                    <a:pt x="1412313" y="0"/>
                  </a:lnTo>
                  <a:cubicBezTo>
                    <a:pt x="1420437" y="0"/>
                    <a:pt x="1428228" y="3227"/>
                    <a:pt x="1433972" y="8972"/>
                  </a:cubicBezTo>
                  <a:cubicBezTo>
                    <a:pt x="1439717" y="14716"/>
                    <a:pt x="1442944" y="22507"/>
                    <a:pt x="1442944" y="30631"/>
                  </a:cubicBezTo>
                  <a:lnTo>
                    <a:pt x="1442944" y="806378"/>
                  </a:lnTo>
                  <a:cubicBezTo>
                    <a:pt x="1442944" y="823295"/>
                    <a:pt x="1429230" y="837009"/>
                    <a:pt x="1412313" y="837009"/>
                  </a:cubicBezTo>
                  <a:lnTo>
                    <a:pt x="30631" y="837009"/>
                  </a:lnTo>
                  <a:cubicBezTo>
                    <a:pt x="13714" y="837009"/>
                    <a:pt x="0" y="823295"/>
                    <a:pt x="0" y="806378"/>
                  </a:cubicBezTo>
                  <a:lnTo>
                    <a:pt x="0" y="30631"/>
                  </a:lnTo>
                  <a:cubicBezTo>
                    <a:pt x="0" y="13714"/>
                    <a:pt x="13714" y="0"/>
                    <a:pt x="30631" y="0"/>
                  </a:cubicBezTo>
                  <a:close/>
                </a:path>
              </a:pathLst>
            </a:custGeom>
            <a:solidFill>
              <a:srgbClr val="CFA36F"/>
            </a:solidFill>
            <a:ln cap="rnd">
              <a:noFill/>
              <a:prstDash val="solid"/>
              <a:round/>
            </a:ln>
          </p:spPr>
        </p:sp>
        <p:sp>
          <p:nvSpPr>
            <p:cNvPr name="TextBox 8" id="8"/>
            <p:cNvSpPr txBox="true"/>
            <p:nvPr/>
          </p:nvSpPr>
          <p:spPr>
            <a:xfrm>
              <a:off x="0" y="-47625"/>
              <a:ext cx="1442944" cy="884634"/>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2036869" y="1388906"/>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7664" y="0"/>
                  </a:moveTo>
                  <a:lnTo>
                    <a:pt x="765136" y="0"/>
                  </a:lnTo>
                  <a:cubicBezTo>
                    <a:pt x="791460" y="0"/>
                    <a:pt x="812800" y="21340"/>
                    <a:pt x="812800" y="47664"/>
                  </a:cubicBezTo>
                  <a:lnTo>
                    <a:pt x="812800" y="765136"/>
                  </a:lnTo>
                  <a:cubicBezTo>
                    <a:pt x="812800" y="791460"/>
                    <a:pt x="791460" y="812800"/>
                    <a:pt x="765136" y="812800"/>
                  </a:cubicBezTo>
                  <a:lnTo>
                    <a:pt x="47664" y="812800"/>
                  </a:lnTo>
                  <a:cubicBezTo>
                    <a:pt x="21340" y="812800"/>
                    <a:pt x="0" y="791460"/>
                    <a:pt x="0" y="765136"/>
                  </a:cubicBezTo>
                  <a:lnTo>
                    <a:pt x="0" y="47664"/>
                  </a:lnTo>
                  <a:cubicBezTo>
                    <a:pt x="0" y="21340"/>
                    <a:pt x="21340" y="0"/>
                    <a:pt x="47664" y="0"/>
                  </a:cubicBezTo>
                  <a:close/>
                </a:path>
              </a:pathLst>
            </a:custGeom>
            <a:solidFill>
              <a:srgbClr val="503C2D"/>
            </a:soli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Freeform 12" id="12"/>
          <p:cNvSpPr/>
          <p:nvPr/>
        </p:nvSpPr>
        <p:spPr>
          <a:xfrm flipH="false" flipV="false" rot="0">
            <a:off x="16933127" y="4440692"/>
            <a:ext cx="5160390" cy="2824141"/>
          </a:xfrm>
          <a:custGeom>
            <a:avLst/>
            <a:gdLst/>
            <a:ahLst/>
            <a:cxnLst/>
            <a:rect r="r" b="b" t="t" l="l"/>
            <a:pathLst>
              <a:path h="2824141" w="5160390">
                <a:moveTo>
                  <a:pt x="0" y="0"/>
                </a:moveTo>
                <a:lnTo>
                  <a:pt x="5160390" y="0"/>
                </a:lnTo>
                <a:lnTo>
                  <a:pt x="5160390" y="2824141"/>
                </a:lnTo>
                <a:lnTo>
                  <a:pt x="0" y="28241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7243938" y="3927443"/>
            <a:ext cx="9689189" cy="2782570"/>
          </a:xfrm>
          <a:prstGeom prst="rect">
            <a:avLst/>
          </a:prstGeom>
        </p:spPr>
        <p:txBody>
          <a:bodyPr anchor="t" rtlCol="false" tIns="0" lIns="0" bIns="0" rIns="0">
            <a:spAutoFit/>
          </a:bodyPr>
          <a:lstStyle/>
          <a:p>
            <a:pPr algn="l">
              <a:lnSpc>
                <a:spcPts val="6800"/>
              </a:lnSpc>
            </a:pPr>
            <a:r>
              <a:rPr lang="en-US" sz="6800" spc="-374">
                <a:solidFill>
                  <a:srgbClr val="503C2D"/>
                </a:solidFill>
                <a:latin typeface="Heading Now 71-78"/>
                <a:ea typeface="Heading Now 71-78"/>
                <a:cs typeface="Heading Now 71-78"/>
                <a:sym typeface="Heading Now 71-78"/>
              </a:rPr>
              <a:t>TESTING</a:t>
            </a:r>
            <a:r>
              <a:rPr lang="en-US" sz="6800" spc="-374">
                <a:solidFill>
                  <a:srgbClr val="503C2D"/>
                </a:solidFill>
                <a:latin typeface="Heading Now 71-78"/>
                <a:ea typeface="Heading Now 71-78"/>
                <a:cs typeface="Heading Now 71-78"/>
                <a:sym typeface="Heading Now 71-78"/>
              </a:rPr>
              <a:t> (CUSTOMER DISCOVERY INSIGHTS)</a:t>
            </a:r>
          </a:p>
          <a:p>
            <a:pPr algn="l">
              <a:lnSpc>
                <a:spcPts val="6800"/>
              </a:lnSpc>
            </a:pPr>
          </a:p>
        </p:txBody>
      </p:sp>
      <p:sp>
        <p:nvSpPr>
          <p:cNvPr name="TextBox 14" id="14"/>
          <p:cNvSpPr txBox="true"/>
          <p:nvPr/>
        </p:nvSpPr>
        <p:spPr>
          <a:xfrm rot="0">
            <a:off x="7525732" y="6335363"/>
            <a:ext cx="5249609" cy="701675"/>
          </a:xfrm>
          <a:prstGeom prst="rect">
            <a:avLst/>
          </a:prstGeom>
        </p:spPr>
        <p:txBody>
          <a:bodyPr anchor="t" rtlCol="false" tIns="0" lIns="0" bIns="0" rIns="0">
            <a:spAutoFit/>
          </a:bodyPr>
          <a:lstStyle/>
          <a:p>
            <a:pPr algn="l" marL="0" indent="0" lvl="0">
              <a:lnSpc>
                <a:spcPts val="2800"/>
              </a:lnSpc>
            </a:pPr>
            <a:r>
              <a:rPr lang="en-US" b="true" sz="2000">
                <a:solidFill>
                  <a:srgbClr val="231F20"/>
                </a:solidFill>
                <a:latin typeface="TT Firs Neue Bold"/>
                <a:ea typeface="TT Firs Neue Bold"/>
                <a:cs typeface="TT Firs Neue Bold"/>
                <a:sym typeface="TT Firs Neue Bold"/>
              </a:rPr>
              <a:t>Wh</a:t>
            </a:r>
            <a:r>
              <a:rPr lang="en-US" b="true" sz="2000">
                <a:solidFill>
                  <a:srgbClr val="231F20"/>
                </a:solidFill>
                <a:latin typeface="TT Firs Neue Bold"/>
                <a:ea typeface="TT Firs Neue Bold"/>
                <a:cs typeface="TT Firs Neue Bold"/>
                <a:sym typeface="TT Firs Neue Bold"/>
              </a:rPr>
              <a:t>at We Learned from Interviews</a:t>
            </a:r>
          </a:p>
          <a:p>
            <a:pPr algn="l">
              <a:lnSpc>
                <a:spcPts val="2800"/>
              </a:lnSpc>
            </a:pPr>
          </a:p>
        </p:txBody>
      </p:sp>
      <p:sp>
        <p:nvSpPr>
          <p:cNvPr name="TextBox 15" id="15"/>
          <p:cNvSpPr txBox="true"/>
          <p:nvPr/>
        </p:nvSpPr>
        <p:spPr>
          <a:xfrm rot="0">
            <a:off x="7243938" y="3350228"/>
            <a:ext cx="4426370" cy="405765"/>
          </a:xfrm>
          <a:prstGeom prst="rect">
            <a:avLst/>
          </a:prstGeom>
        </p:spPr>
        <p:txBody>
          <a:bodyPr anchor="t" rtlCol="false" tIns="0" lIns="0" bIns="0" rIns="0">
            <a:spAutoFit/>
          </a:bodyPr>
          <a:lstStyle/>
          <a:p>
            <a:pPr algn="l">
              <a:lnSpc>
                <a:spcPts val="3359"/>
              </a:lnSpc>
            </a:pPr>
            <a:r>
              <a:rPr lang="en-US" sz="2400" b="true">
                <a:solidFill>
                  <a:srgbClr val="231F20"/>
                </a:solidFill>
                <a:latin typeface="TT Firs Neue Bold"/>
                <a:ea typeface="TT Firs Neue Bold"/>
                <a:cs typeface="TT Firs Neue Bold"/>
                <a:sym typeface="TT Firs Neue Bold"/>
              </a:rPr>
              <a:t>Banking in </a:t>
            </a:r>
            <a:r>
              <a:rPr lang="en-US" sz="2400" b="true">
                <a:solidFill>
                  <a:srgbClr val="231F20"/>
                </a:solidFill>
                <a:latin typeface="TT Firs Neue Bold"/>
                <a:ea typeface="TT Firs Neue Bold"/>
                <a:cs typeface="TT Firs Neue Bold"/>
                <a:sym typeface="TT Firs Neue Bold"/>
              </a:rPr>
              <a:t>Y</a:t>
            </a:r>
            <a:r>
              <a:rPr lang="en-US" sz="2400" b="true">
                <a:solidFill>
                  <a:srgbClr val="231F20"/>
                </a:solidFill>
                <a:latin typeface="TT Firs Neue Bold"/>
                <a:ea typeface="TT Firs Neue Bold"/>
                <a:cs typeface="TT Firs Neue Bold"/>
                <a:sym typeface="TT Firs Neue Bold"/>
              </a:rPr>
              <a:t>our Pocket</a:t>
            </a:r>
          </a:p>
        </p:txBody>
      </p:sp>
      <p:sp>
        <p:nvSpPr>
          <p:cNvPr name="TextBox 16" id="16"/>
          <p:cNvSpPr txBox="true"/>
          <p:nvPr/>
        </p:nvSpPr>
        <p:spPr>
          <a:xfrm rot="0">
            <a:off x="7414946" y="6652863"/>
            <a:ext cx="5360396" cy="3199130"/>
          </a:xfrm>
          <a:prstGeom prst="rect">
            <a:avLst/>
          </a:prstGeom>
        </p:spPr>
        <p:txBody>
          <a:bodyPr anchor="t" rtlCol="false" tIns="0" lIns="0" bIns="0" rIns="0">
            <a:spAutoFit/>
          </a:bodyPr>
          <a:lstStyle/>
          <a:p>
            <a:pPr algn="just" marL="496571" indent="-248285" lvl="1">
              <a:lnSpc>
                <a:spcPts val="3220"/>
              </a:lnSpc>
              <a:buFont typeface="Arial"/>
              <a:buChar char="•"/>
            </a:pPr>
            <a:r>
              <a:rPr lang="en-US" sz="2300">
                <a:solidFill>
                  <a:srgbClr val="000000"/>
                </a:solidFill>
                <a:latin typeface="Glacial Indifference"/>
                <a:ea typeface="Glacial Indifference"/>
                <a:cs typeface="Glacial Indifference"/>
                <a:sym typeface="Glacial Indifference"/>
              </a:rPr>
              <a:t>People don't trust banks </a:t>
            </a:r>
          </a:p>
          <a:p>
            <a:pPr algn="just" marL="496571" indent="-248285" lvl="1">
              <a:lnSpc>
                <a:spcPts val="3220"/>
              </a:lnSpc>
              <a:buFont typeface="Arial"/>
              <a:buChar char="•"/>
            </a:pPr>
            <a:r>
              <a:rPr lang="en-US" sz="2300">
                <a:solidFill>
                  <a:srgbClr val="000000"/>
                </a:solidFill>
                <a:latin typeface="Glacial Indifference"/>
                <a:ea typeface="Glacial Indifference"/>
                <a:cs typeface="Glacial Indifference"/>
                <a:sym typeface="Glacial Indifference"/>
              </a:rPr>
              <a:t>Fees turn people off </a:t>
            </a:r>
          </a:p>
          <a:p>
            <a:pPr algn="just" marL="496571" indent="-248285" lvl="1">
              <a:lnSpc>
                <a:spcPts val="3220"/>
              </a:lnSpc>
              <a:buFont typeface="Arial"/>
              <a:buChar char="•"/>
            </a:pPr>
            <a:r>
              <a:rPr lang="en-US" sz="2300">
                <a:solidFill>
                  <a:srgbClr val="000000"/>
                </a:solidFill>
                <a:latin typeface="Glacial Indifference"/>
                <a:ea typeface="Glacial Indifference"/>
                <a:cs typeface="Glacial Indifference"/>
                <a:sym typeface="Glacial Indifference"/>
              </a:rPr>
              <a:t>Mobile money is the most common way to pay every day. </a:t>
            </a:r>
          </a:p>
          <a:p>
            <a:pPr algn="just" marL="496571" indent="-248285" lvl="1">
              <a:lnSpc>
                <a:spcPts val="3220"/>
              </a:lnSpc>
              <a:buFont typeface="Arial"/>
              <a:buChar char="•"/>
            </a:pPr>
            <a:r>
              <a:rPr lang="en-US" sz="2300">
                <a:solidFill>
                  <a:srgbClr val="000000"/>
                </a:solidFill>
                <a:latin typeface="Glacial Indifference"/>
                <a:ea typeface="Glacial Indifference"/>
                <a:cs typeface="Glacial Indifference"/>
                <a:sym typeface="Glacial Indifference"/>
              </a:rPr>
              <a:t>It's hard to get loans </a:t>
            </a:r>
          </a:p>
          <a:p>
            <a:pPr algn="just" marL="496571" indent="-248285" lvl="1">
              <a:lnSpc>
                <a:spcPts val="3220"/>
              </a:lnSpc>
              <a:buFont typeface="Arial"/>
              <a:buChar char="•"/>
            </a:pPr>
            <a:r>
              <a:rPr lang="en-US" sz="2300">
                <a:solidFill>
                  <a:srgbClr val="000000"/>
                </a:solidFill>
                <a:latin typeface="Glacial Indifference"/>
                <a:ea typeface="Glacial Indifference"/>
                <a:cs typeface="Glacial Indifference"/>
                <a:sym typeface="Glacial Indifference"/>
              </a:rPr>
              <a:t>It takes patience to trust </a:t>
            </a:r>
          </a:p>
          <a:p>
            <a:pPr algn="just">
              <a:lnSpc>
                <a:spcPts val="3220"/>
              </a:lnSpc>
            </a:pPr>
          </a:p>
          <a:p>
            <a:pPr algn="just">
              <a:lnSpc>
                <a:spcPts val="322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9E1DB"/>
        </a:solidFill>
      </p:bgPr>
    </p:bg>
    <p:spTree>
      <p:nvGrpSpPr>
        <p:cNvPr id="1" name=""/>
        <p:cNvGrpSpPr/>
        <p:nvPr/>
      </p:nvGrpSpPr>
      <p:grpSpPr>
        <a:xfrm>
          <a:off x="0" y="0"/>
          <a:ext cx="0" cy="0"/>
          <a:chOff x="0" y="0"/>
          <a:chExt cx="0" cy="0"/>
        </a:xfrm>
      </p:grpSpPr>
      <p:grpSp>
        <p:nvGrpSpPr>
          <p:cNvPr name="Group 2" id="2"/>
          <p:cNvGrpSpPr/>
          <p:nvPr/>
        </p:nvGrpSpPr>
        <p:grpSpPr>
          <a:xfrm rot="0">
            <a:off x="-433774" y="1028700"/>
            <a:ext cx="7622639" cy="3652717"/>
            <a:chOff x="0" y="0"/>
            <a:chExt cx="1180946" cy="565901"/>
          </a:xfrm>
        </p:grpSpPr>
        <p:sp>
          <p:nvSpPr>
            <p:cNvPr name="Freeform 3" id="3"/>
            <p:cNvSpPr/>
            <p:nvPr/>
          </p:nvSpPr>
          <p:spPr>
            <a:xfrm flipH="false" flipV="false" rot="0">
              <a:off x="0" y="0"/>
              <a:ext cx="1180946" cy="565901"/>
            </a:xfrm>
            <a:custGeom>
              <a:avLst/>
              <a:gdLst/>
              <a:ahLst/>
              <a:cxnLst/>
              <a:rect r="r" b="b" t="t" l="l"/>
              <a:pathLst>
                <a:path h="565901" w="1180946">
                  <a:moveTo>
                    <a:pt x="23360" y="0"/>
                  </a:moveTo>
                  <a:lnTo>
                    <a:pt x="1157586" y="0"/>
                  </a:lnTo>
                  <a:cubicBezTo>
                    <a:pt x="1170488" y="0"/>
                    <a:pt x="1180946" y="10459"/>
                    <a:pt x="1180946" y="23360"/>
                  </a:cubicBezTo>
                  <a:lnTo>
                    <a:pt x="1180946" y="542542"/>
                  </a:lnTo>
                  <a:cubicBezTo>
                    <a:pt x="1180946" y="548737"/>
                    <a:pt x="1178485" y="554679"/>
                    <a:pt x="1174104" y="559059"/>
                  </a:cubicBezTo>
                  <a:cubicBezTo>
                    <a:pt x="1169723" y="563440"/>
                    <a:pt x="1163782" y="565901"/>
                    <a:pt x="1157586" y="565901"/>
                  </a:cubicBezTo>
                  <a:lnTo>
                    <a:pt x="23360" y="565901"/>
                  </a:lnTo>
                  <a:cubicBezTo>
                    <a:pt x="17164" y="565901"/>
                    <a:pt x="11223" y="563440"/>
                    <a:pt x="6842" y="559059"/>
                  </a:cubicBezTo>
                  <a:cubicBezTo>
                    <a:pt x="2461" y="554679"/>
                    <a:pt x="0" y="548737"/>
                    <a:pt x="0" y="542542"/>
                  </a:cubicBezTo>
                  <a:lnTo>
                    <a:pt x="0" y="23360"/>
                  </a:lnTo>
                  <a:cubicBezTo>
                    <a:pt x="0" y="17164"/>
                    <a:pt x="2461" y="11223"/>
                    <a:pt x="6842" y="6842"/>
                  </a:cubicBezTo>
                  <a:cubicBezTo>
                    <a:pt x="11223" y="2461"/>
                    <a:pt x="17164" y="0"/>
                    <a:pt x="23360" y="0"/>
                  </a:cubicBezTo>
                  <a:close/>
                </a:path>
              </a:pathLst>
            </a:custGeom>
            <a:blipFill>
              <a:blip r:embed="rId2"/>
              <a:stretch>
                <a:fillRect l="0" t="-19624" r="0" b="-19624"/>
              </a:stretch>
            </a:blipFill>
          </p:spPr>
        </p:sp>
      </p:grpSp>
      <p:grpSp>
        <p:nvGrpSpPr>
          <p:cNvPr name="Group 4" id="4"/>
          <p:cNvGrpSpPr/>
          <p:nvPr/>
        </p:nvGrpSpPr>
        <p:grpSpPr>
          <a:xfrm rot="0">
            <a:off x="7768258" y="1028700"/>
            <a:ext cx="8580225" cy="3652717"/>
            <a:chOff x="0" y="0"/>
            <a:chExt cx="1329301" cy="565901"/>
          </a:xfrm>
        </p:grpSpPr>
        <p:sp>
          <p:nvSpPr>
            <p:cNvPr name="Freeform 5" id="5"/>
            <p:cNvSpPr/>
            <p:nvPr/>
          </p:nvSpPr>
          <p:spPr>
            <a:xfrm flipH="false" flipV="false" rot="0">
              <a:off x="0" y="0"/>
              <a:ext cx="1329301" cy="565901"/>
            </a:xfrm>
            <a:custGeom>
              <a:avLst/>
              <a:gdLst/>
              <a:ahLst/>
              <a:cxnLst/>
              <a:rect r="r" b="b" t="t" l="l"/>
              <a:pathLst>
                <a:path h="565901" w="1329301">
                  <a:moveTo>
                    <a:pt x="20753" y="0"/>
                  </a:moveTo>
                  <a:lnTo>
                    <a:pt x="1308549" y="0"/>
                  </a:lnTo>
                  <a:cubicBezTo>
                    <a:pt x="1320010" y="0"/>
                    <a:pt x="1329301" y="9291"/>
                    <a:pt x="1329301" y="20753"/>
                  </a:cubicBezTo>
                  <a:lnTo>
                    <a:pt x="1329301" y="545149"/>
                  </a:lnTo>
                  <a:cubicBezTo>
                    <a:pt x="1329301" y="556610"/>
                    <a:pt x="1320010" y="565901"/>
                    <a:pt x="1308549" y="565901"/>
                  </a:cubicBezTo>
                  <a:lnTo>
                    <a:pt x="20753" y="565901"/>
                  </a:lnTo>
                  <a:cubicBezTo>
                    <a:pt x="9291" y="565901"/>
                    <a:pt x="0" y="556610"/>
                    <a:pt x="0" y="545149"/>
                  </a:cubicBezTo>
                  <a:lnTo>
                    <a:pt x="0" y="20753"/>
                  </a:lnTo>
                  <a:cubicBezTo>
                    <a:pt x="0" y="9291"/>
                    <a:pt x="9291" y="0"/>
                    <a:pt x="20753" y="0"/>
                  </a:cubicBezTo>
                  <a:close/>
                </a:path>
              </a:pathLst>
            </a:custGeom>
            <a:blipFill>
              <a:blip r:embed="rId3"/>
              <a:stretch>
                <a:fillRect l="0" t="-56742" r="0" b="0"/>
              </a:stretch>
            </a:blipFill>
          </p:spPr>
        </p:sp>
      </p:grpSp>
      <p:grpSp>
        <p:nvGrpSpPr>
          <p:cNvPr name="Group 6" id="6"/>
          <p:cNvGrpSpPr/>
          <p:nvPr/>
        </p:nvGrpSpPr>
        <p:grpSpPr>
          <a:xfrm rot="0">
            <a:off x="-2107850" y="5414651"/>
            <a:ext cx="3086100" cy="308610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7664" y="0"/>
                  </a:moveTo>
                  <a:lnTo>
                    <a:pt x="765136" y="0"/>
                  </a:lnTo>
                  <a:cubicBezTo>
                    <a:pt x="791460" y="0"/>
                    <a:pt x="812800" y="21340"/>
                    <a:pt x="812800" y="47664"/>
                  </a:cubicBezTo>
                  <a:lnTo>
                    <a:pt x="812800" y="765136"/>
                  </a:lnTo>
                  <a:cubicBezTo>
                    <a:pt x="812800" y="791460"/>
                    <a:pt x="791460" y="812800"/>
                    <a:pt x="765136" y="812800"/>
                  </a:cubicBezTo>
                  <a:lnTo>
                    <a:pt x="47664" y="812800"/>
                  </a:lnTo>
                  <a:cubicBezTo>
                    <a:pt x="21340" y="812800"/>
                    <a:pt x="0" y="791460"/>
                    <a:pt x="0" y="765136"/>
                  </a:cubicBezTo>
                  <a:lnTo>
                    <a:pt x="0" y="47664"/>
                  </a:lnTo>
                  <a:cubicBezTo>
                    <a:pt x="0" y="21340"/>
                    <a:pt x="21340" y="0"/>
                    <a:pt x="47664" y="0"/>
                  </a:cubicBezTo>
                  <a:close/>
                </a:path>
              </a:pathLst>
            </a:custGeom>
            <a:solidFill>
              <a:srgbClr val="503C2D"/>
            </a:solidFill>
          </p:spPr>
        </p:sp>
        <p:sp>
          <p:nvSpPr>
            <p:cNvPr name="TextBox 8" id="8"/>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TextBox 9" id="9"/>
          <p:cNvSpPr txBox="true"/>
          <p:nvPr/>
        </p:nvSpPr>
        <p:spPr>
          <a:xfrm rot="0">
            <a:off x="1272712" y="5240694"/>
            <a:ext cx="6870420" cy="4835789"/>
          </a:xfrm>
          <a:prstGeom prst="rect">
            <a:avLst/>
          </a:prstGeom>
        </p:spPr>
        <p:txBody>
          <a:bodyPr anchor="t" rtlCol="false" tIns="0" lIns="0" bIns="0" rIns="0">
            <a:spAutoFit/>
          </a:bodyPr>
          <a:lstStyle/>
          <a:p>
            <a:pPr algn="ctr">
              <a:lnSpc>
                <a:spcPts val="9610"/>
              </a:lnSpc>
            </a:pPr>
            <a:r>
              <a:rPr lang="en-US" sz="6864">
                <a:solidFill>
                  <a:srgbClr val="66574D"/>
                </a:solidFill>
                <a:latin typeface="League Spartan"/>
                <a:ea typeface="League Spartan"/>
                <a:cs typeface="League Spartan"/>
                <a:sym typeface="League Spartan"/>
              </a:rPr>
              <a:t>WHAT WE CHANGED AFTER TESTING</a:t>
            </a:r>
          </a:p>
        </p:txBody>
      </p:sp>
      <p:sp>
        <p:nvSpPr>
          <p:cNvPr name="TextBox 10" id="10"/>
          <p:cNvSpPr txBox="true"/>
          <p:nvPr/>
        </p:nvSpPr>
        <p:spPr>
          <a:xfrm rot="0">
            <a:off x="8143132" y="5895904"/>
            <a:ext cx="5360396" cy="1598930"/>
          </a:xfrm>
          <a:prstGeom prst="rect">
            <a:avLst/>
          </a:prstGeom>
        </p:spPr>
        <p:txBody>
          <a:bodyPr anchor="t" rtlCol="false" tIns="0" lIns="0" bIns="0" rIns="0">
            <a:spAutoFit/>
          </a:bodyPr>
          <a:lstStyle/>
          <a:p>
            <a:pPr algn="l">
              <a:lnSpc>
                <a:spcPts val="3220"/>
              </a:lnSpc>
            </a:pPr>
            <a:r>
              <a:rPr lang="en-US" sz="2300" b="true">
                <a:solidFill>
                  <a:srgbClr val="66574D"/>
                </a:solidFill>
                <a:latin typeface="Glacial Indifference Bold"/>
                <a:ea typeface="Glacial Indifference Bold"/>
                <a:cs typeface="Glacial Indifference Bold"/>
                <a:sym typeface="Glacial Indifference Bold"/>
              </a:rPr>
              <a:t>Before</a:t>
            </a:r>
          </a:p>
          <a:p>
            <a:pPr algn="l" marL="496571" indent="-248285" lvl="1">
              <a:lnSpc>
                <a:spcPts val="3220"/>
              </a:lnSpc>
              <a:buFont typeface="Arial"/>
              <a:buChar char="•"/>
            </a:pPr>
            <a:r>
              <a:rPr lang="en-US" sz="2300">
                <a:solidFill>
                  <a:srgbClr val="66574D"/>
                </a:solidFill>
                <a:latin typeface="Glacial Indifference"/>
                <a:ea typeface="Glacial Indifference"/>
                <a:cs typeface="Glacial Indifference"/>
                <a:sym typeface="Glacial Indifference"/>
              </a:rPr>
              <a:t>Keep an eye on cheap fees</a:t>
            </a:r>
          </a:p>
          <a:p>
            <a:pPr algn="l" marL="496571" indent="-248285" lvl="1">
              <a:lnSpc>
                <a:spcPts val="3220"/>
              </a:lnSpc>
              <a:buFont typeface="Arial"/>
              <a:buChar char="•"/>
            </a:pPr>
            <a:r>
              <a:rPr lang="en-US" sz="2300">
                <a:solidFill>
                  <a:srgbClr val="66574D"/>
                </a:solidFill>
                <a:latin typeface="Glacial Indifference"/>
                <a:ea typeface="Glacial Indifference"/>
                <a:cs typeface="Glacial Indifference"/>
                <a:sym typeface="Glacial Indifference"/>
              </a:rPr>
              <a:t>Pay attention to online banking </a:t>
            </a:r>
          </a:p>
          <a:p>
            <a:pPr algn="just">
              <a:lnSpc>
                <a:spcPts val="3220"/>
              </a:lnSpc>
            </a:pPr>
          </a:p>
        </p:txBody>
      </p:sp>
      <p:sp>
        <p:nvSpPr>
          <p:cNvPr name="TextBox 11" id="11"/>
          <p:cNvSpPr txBox="true"/>
          <p:nvPr/>
        </p:nvSpPr>
        <p:spPr>
          <a:xfrm rot="0">
            <a:off x="13209689" y="5895904"/>
            <a:ext cx="5360396" cy="2799080"/>
          </a:xfrm>
          <a:prstGeom prst="rect">
            <a:avLst/>
          </a:prstGeom>
        </p:spPr>
        <p:txBody>
          <a:bodyPr anchor="t" rtlCol="false" tIns="0" lIns="0" bIns="0" rIns="0">
            <a:spAutoFit/>
          </a:bodyPr>
          <a:lstStyle/>
          <a:p>
            <a:pPr algn="just">
              <a:lnSpc>
                <a:spcPts val="3220"/>
              </a:lnSpc>
            </a:pPr>
            <a:r>
              <a:rPr lang="en-US" sz="2300" b="true">
                <a:solidFill>
                  <a:srgbClr val="66574D"/>
                </a:solidFill>
                <a:latin typeface="Glacial Indifference Bold"/>
                <a:ea typeface="Glacial Indifference Bold"/>
                <a:cs typeface="Glacial Indifference Bold"/>
                <a:sym typeface="Glacial Indifference Bold"/>
              </a:rPr>
              <a:t>After Interviews</a:t>
            </a:r>
          </a:p>
          <a:p>
            <a:pPr algn="just" marL="496571" indent="-248285" lvl="1">
              <a:lnSpc>
                <a:spcPts val="3220"/>
              </a:lnSpc>
              <a:buFont typeface="Arial"/>
              <a:buChar char="•"/>
            </a:pPr>
            <a:r>
              <a:rPr lang="en-US" sz="2300">
                <a:solidFill>
                  <a:srgbClr val="66574D"/>
                </a:solidFill>
                <a:latin typeface="Glacial Indifference"/>
                <a:ea typeface="Glacial Indifference"/>
                <a:cs typeface="Glacial Indifference"/>
                <a:sym typeface="Glacial Indifference"/>
              </a:rPr>
              <a:t>Price is not as crucial as trust </a:t>
            </a:r>
          </a:p>
          <a:p>
            <a:pPr algn="just" marL="496571" indent="-248285" lvl="1">
              <a:lnSpc>
                <a:spcPts val="3220"/>
              </a:lnSpc>
              <a:buFont typeface="Arial"/>
              <a:buChar char="•"/>
            </a:pPr>
            <a:r>
              <a:rPr lang="en-US" sz="2300">
                <a:solidFill>
                  <a:srgbClr val="66574D"/>
                </a:solidFill>
                <a:latin typeface="Glacial Indifference"/>
                <a:ea typeface="Glacial Indifference"/>
                <a:cs typeface="Glacial Indifference"/>
                <a:sym typeface="Glacial Indifference"/>
              </a:rPr>
              <a:t>Getting cash is really important </a:t>
            </a:r>
          </a:p>
          <a:p>
            <a:pPr algn="just" marL="496571" indent="-248285" lvl="1">
              <a:lnSpc>
                <a:spcPts val="3220"/>
              </a:lnSpc>
              <a:buFont typeface="Arial"/>
              <a:buChar char="•"/>
            </a:pPr>
            <a:r>
              <a:rPr lang="en-US" sz="2300">
                <a:solidFill>
                  <a:srgbClr val="66574D"/>
                </a:solidFill>
                <a:latin typeface="Glacial Indifference"/>
                <a:ea typeface="Glacial Indifference"/>
                <a:cs typeface="Glacial Indifference"/>
                <a:sym typeface="Glacial Indifference"/>
              </a:rPr>
              <a:t>Protecting the USD is important </a:t>
            </a:r>
          </a:p>
          <a:p>
            <a:pPr algn="just" marL="496571" indent="-248285" lvl="1">
              <a:lnSpc>
                <a:spcPts val="3220"/>
              </a:lnSpc>
              <a:buFont typeface="Arial"/>
              <a:buChar char="•"/>
            </a:pPr>
            <a:r>
              <a:rPr lang="en-US" sz="2300">
                <a:solidFill>
                  <a:srgbClr val="66574D"/>
                </a:solidFill>
                <a:latin typeface="Glacial Indifference"/>
                <a:ea typeface="Glacial Indifference"/>
                <a:cs typeface="Glacial Indifference"/>
                <a:sym typeface="Glacial Indifference"/>
              </a:rPr>
              <a:t>Keep it simple</a:t>
            </a:r>
          </a:p>
          <a:p>
            <a:pPr algn="just">
              <a:lnSpc>
                <a:spcPts val="3220"/>
              </a:lnSpc>
            </a:pPr>
          </a:p>
          <a:p>
            <a:pPr algn="just">
              <a:lnSpc>
                <a:spcPts val="322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9E1DB"/>
        </a:solidFill>
      </p:bgPr>
    </p:bg>
    <p:spTree>
      <p:nvGrpSpPr>
        <p:cNvPr id="1" name=""/>
        <p:cNvGrpSpPr/>
        <p:nvPr/>
      </p:nvGrpSpPr>
      <p:grpSpPr>
        <a:xfrm>
          <a:off x="0" y="0"/>
          <a:ext cx="0" cy="0"/>
          <a:chOff x="0" y="0"/>
          <a:chExt cx="0" cy="0"/>
        </a:xfrm>
      </p:grpSpPr>
      <p:sp>
        <p:nvSpPr>
          <p:cNvPr name="Freeform 2" id="2"/>
          <p:cNvSpPr/>
          <p:nvPr/>
        </p:nvSpPr>
        <p:spPr>
          <a:xfrm flipH="false" flipV="true" rot="0">
            <a:off x="15766999" y="-1785022"/>
            <a:ext cx="2521001" cy="4114800"/>
          </a:xfrm>
          <a:custGeom>
            <a:avLst/>
            <a:gdLst/>
            <a:ahLst/>
            <a:cxnLst/>
            <a:rect r="r" b="b" t="t" l="l"/>
            <a:pathLst>
              <a:path h="4114800" w="2521001">
                <a:moveTo>
                  <a:pt x="0" y="4114800"/>
                </a:moveTo>
                <a:lnTo>
                  <a:pt x="2521001" y="4114800"/>
                </a:lnTo>
                <a:lnTo>
                  <a:pt x="2521001"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521179" y="2513689"/>
            <a:ext cx="1811687" cy="1340649"/>
          </a:xfrm>
          <a:custGeom>
            <a:avLst/>
            <a:gdLst/>
            <a:ahLst/>
            <a:cxnLst/>
            <a:rect r="r" b="b" t="t" l="l"/>
            <a:pathLst>
              <a:path h="1340649" w="1811687">
                <a:moveTo>
                  <a:pt x="0" y="0"/>
                </a:moveTo>
                <a:lnTo>
                  <a:pt x="1811687" y="0"/>
                </a:lnTo>
                <a:lnTo>
                  <a:pt x="1811687" y="1340648"/>
                </a:lnTo>
                <a:lnTo>
                  <a:pt x="0" y="134064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992877" y="3717062"/>
            <a:ext cx="1856585" cy="1780001"/>
          </a:xfrm>
          <a:custGeom>
            <a:avLst/>
            <a:gdLst/>
            <a:ahLst/>
            <a:cxnLst/>
            <a:rect r="r" b="b" t="t" l="l"/>
            <a:pathLst>
              <a:path h="1780001" w="1856585">
                <a:moveTo>
                  <a:pt x="0" y="0"/>
                </a:moveTo>
                <a:lnTo>
                  <a:pt x="1856585" y="0"/>
                </a:lnTo>
                <a:lnTo>
                  <a:pt x="1856585" y="1780002"/>
                </a:lnTo>
                <a:lnTo>
                  <a:pt x="0" y="17800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4649081" y="6449314"/>
            <a:ext cx="1632607" cy="1632607"/>
          </a:xfrm>
          <a:custGeom>
            <a:avLst/>
            <a:gdLst/>
            <a:ahLst/>
            <a:cxnLst/>
            <a:rect r="r" b="b" t="t" l="l"/>
            <a:pathLst>
              <a:path h="1632607" w="1632607">
                <a:moveTo>
                  <a:pt x="0" y="0"/>
                </a:moveTo>
                <a:lnTo>
                  <a:pt x="1632607" y="0"/>
                </a:lnTo>
                <a:lnTo>
                  <a:pt x="1632607" y="1632607"/>
                </a:lnTo>
                <a:lnTo>
                  <a:pt x="0" y="16326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696843" y="761518"/>
            <a:ext cx="7357231" cy="2641219"/>
          </a:xfrm>
          <a:prstGeom prst="rect">
            <a:avLst/>
          </a:prstGeom>
        </p:spPr>
        <p:txBody>
          <a:bodyPr anchor="t" rtlCol="false" tIns="0" lIns="0" bIns="0" rIns="0">
            <a:spAutoFit/>
          </a:bodyPr>
          <a:lstStyle/>
          <a:p>
            <a:pPr algn="l">
              <a:lnSpc>
                <a:spcPts val="6860"/>
              </a:lnSpc>
            </a:pPr>
            <a:r>
              <a:rPr lang="en-US" b="true" sz="6860">
                <a:solidFill>
                  <a:srgbClr val="66574D"/>
                </a:solidFill>
                <a:latin typeface="League Spartan"/>
                <a:ea typeface="League Spartan"/>
                <a:cs typeface="League Spartan"/>
                <a:sym typeface="League Spartan"/>
              </a:rPr>
              <a:t>WHERE DID WE GET THESE PROJECTIONS?</a:t>
            </a:r>
          </a:p>
        </p:txBody>
      </p:sp>
      <p:sp>
        <p:nvSpPr>
          <p:cNvPr name="TextBox 7" id="7"/>
          <p:cNvSpPr txBox="true"/>
          <p:nvPr/>
        </p:nvSpPr>
        <p:spPr>
          <a:xfrm rot="0">
            <a:off x="0" y="4017657"/>
            <a:ext cx="7621548" cy="1553935"/>
          </a:xfrm>
          <a:prstGeom prst="rect">
            <a:avLst/>
          </a:prstGeom>
        </p:spPr>
        <p:txBody>
          <a:bodyPr anchor="t" rtlCol="false" tIns="0" lIns="0" bIns="0" rIns="0">
            <a:spAutoFit/>
          </a:bodyPr>
          <a:lstStyle/>
          <a:p>
            <a:pPr algn="l">
              <a:lnSpc>
                <a:spcPts val="3075"/>
              </a:lnSpc>
            </a:pPr>
            <a:r>
              <a:rPr lang="en-US" b="true" sz="2196">
                <a:solidFill>
                  <a:srgbClr val="66574D"/>
                </a:solidFill>
                <a:latin typeface="Glacial Indifference Bold"/>
                <a:ea typeface="Glacial Indifference Bold"/>
                <a:cs typeface="Glacial Indifference Bold"/>
                <a:sym typeface="Glacial Indifference Bold"/>
              </a:rPr>
              <a:t>                          </a:t>
            </a:r>
            <a:r>
              <a:rPr lang="en-US" b="true" sz="2196">
                <a:solidFill>
                  <a:srgbClr val="66574D"/>
                </a:solidFill>
                <a:latin typeface="Glacial Indifference Bold"/>
                <a:ea typeface="Glacial Indifference Bold"/>
                <a:cs typeface="Glacial Indifference Bold"/>
                <a:sym typeface="Glacial Indifference Bold"/>
              </a:rPr>
              <a:t>Reserve Bank of Zimbabwe</a:t>
            </a:r>
          </a:p>
          <a:p>
            <a:pPr algn="l" marL="474218" indent="-237109" lvl="1">
              <a:lnSpc>
                <a:spcPts val="3075"/>
              </a:lnSpc>
              <a:buFont typeface="Arial"/>
              <a:buChar char="•"/>
            </a:pPr>
            <a:r>
              <a:rPr lang="en-US" b="true" sz="2196">
                <a:solidFill>
                  <a:srgbClr val="66574D"/>
                </a:solidFill>
                <a:latin typeface="Glacial Indifference Bold"/>
                <a:ea typeface="Glacial Indifference Bold"/>
                <a:cs typeface="Glacial Indifference Bold"/>
                <a:sym typeface="Glacial Indifference Bold"/>
              </a:rPr>
              <a:t>August 2025 Mid-Term Monetary Policy Review</a:t>
            </a:r>
          </a:p>
          <a:p>
            <a:pPr algn="l" marL="474218" indent="-237109" lvl="1">
              <a:lnSpc>
                <a:spcPts val="3075"/>
              </a:lnSpc>
              <a:buFont typeface="Arial"/>
              <a:buChar char="•"/>
            </a:pPr>
            <a:r>
              <a:rPr lang="en-US" b="true" sz="2196">
                <a:solidFill>
                  <a:srgbClr val="66574D"/>
                </a:solidFill>
                <a:latin typeface="Glacial Indifference Bold"/>
                <a:ea typeface="Glacial Indifference Bold"/>
                <a:cs typeface="Glacial Indifference Bold"/>
                <a:sym typeface="Glacial Indifference Bold"/>
              </a:rPr>
              <a:t>February 2025 Monetary Policy Statement (CAR 34.89%)</a:t>
            </a:r>
          </a:p>
          <a:p>
            <a:pPr algn="l" marL="474218" indent="-237109" lvl="1">
              <a:lnSpc>
                <a:spcPts val="3075"/>
              </a:lnSpc>
              <a:buFont typeface="Arial"/>
              <a:buChar char="•"/>
            </a:pPr>
            <a:r>
              <a:rPr lang="en-US" b="true" sz="2196">
                <a:solidFill>
                  <a:srgbClr val="66574D"/>
                </a:solidFill>
                <a:latin typeface="Glacial Indifference Bold"/>
                <a:ea typeface="Glacial Indifference Bold"/>
                <a:cs typeface="Glacial Indifference Bold"/>
                <a:sym typeface="Glacial Indifference Bold"/>
              </a:rPr>
              <a:t>Banking Sector Quarterly Report, 31 March 2025</a:t>
            </a:r>
          </a:p>
        </p:txBody>
      </p:sp>
      <p:sp>
        <p:nvSpPr>
          <p:cNvPr name="TextBox 8" id="8"/>
          <p:cNvSpPr txBox="true"/>
          <p:nvPr/>
        </p:nvSpPr>
        <p:spPr>
          <a:xfrm rot="0">
            <a:off x="9729438" y="5523967"/>
            <a:ext cx="8733661" cy="2334895"/>
          </a:xfrm>
          <a:prstGeom prst="rect">
            <a:avLst/>
          </a:prstGeom>
        </p:spPr>
        <p:txBody>
          <a:bodyPr anchor="t" rtlCol="false" tIns="0" lIns="0" bIns="0" rIns="0">
            <a:spAutoFit/>
          </a:bodyPr>
          <a:lstStyle/>
          <a:p>
            <a:pPr algn="ctr">
              <a:lnSpc>
                <a:spcPts val="3079"/>
              </a:lnSpc>
              <a:spcBef>
                <a:spcPct val="0"/>
              </a:spcBef>
            </a:pPr>
            <a:r>
              <a:rPr lang="en-US" b="true" sz="2199">
                <a:solidFill>
                  <a:srgbClr val="66574D"/>
                </a:solidFill>
                <a:latin typeface="Glacial Indifference Bold"/>
                <a:ea typeface="Glacial Indifference Bold"/>
                <a:cs typeface="Glacial Indifference Bold"/>
                <a:sym typeface="Glacial Indifference Bold"/>
              </a:rPr>
              <a:t>Market &amp; Demand Data</a:t>
            </a:r>
          </a:p>
          <a:p>
            <a:pPr algn="l" marL="474979" indent="-237490" lvl="1">
              <a:lnSpc>
                <a:spcPts val="3079"/>
              </a:lnSpc>
              <a:buFont typeface="Arial"/>
              <a:buChar char="•"/>
            </a:pPr>
            <a:r>
              <a:rPr lang="en-US" b="true" sz="2199">
                <a:solidFill>
                  <a:srgbClr val="66574D"/>
                </a:solidFill>
                <a:latin typeface="Glacial Indifference Bold"/>
                <a:ea typeface="Glacial Indifference Bold"/>
                <a:cs typeface="Glacial Indifference Bold"/>
                <a:sym typeface="Glacial Indifference Bold"/>
              </a:rPr>
              <a:t>ZIMSTAT 2023 Economic Census</a:t>
            </a:r>
          </a:p>
          <a:p>
            <a:pPr algn="l" marL="474979" indent="-237490" lvl="1">
              <a:lnSpc>
                <a:spcPts val="3079"/>
              </a:lnSpc>
              <a:buFont typeface="Arial"/>
              <a:buChar char="•"/>
            </a:pPr>
            <a:r>
              <a:rPr lang="en-US" b="true" sz="2199">
                <a:solidFill>
                  <a:srgbClr val="66574D"/>
                </a:solidFill>
                <a:latin typeface="Glacial Indifference Bold"/>
                <a:ea typeface="Glacial Indifference Bold"/>
                <a:cs typeface="Glacial Indifference Bold"/>
                <a:sym typeface="Glacial Indifference Bold"/>
              </a:rPr>
              <a:t>FinScope MSME Survey 2022 (FinMark Trust, ZIMSTAT, RBZ, World Bank)</a:t>
            </a:r>
          </a:p>
          <a:p>
            <a:pPr algn="l" marL="474979" indent="-237490" lvl="1">
              <a:lnSpc>
                <a:spcPts val="3079"/>
              </a:lnSpc>
              <a:buFont typeface="Arial"/>
              <a:buChar char="•"/>
            </a:pPr>
            <a:r>
              <a:rPr lang="en-US" b="true" sz="2199">
                <a:solidFill>
                  <a:srgbClr val="66574D"/>
                </a:solidFill>
                <a:latin typeface="Glacial Indifference Bold"/>
                <a:ea typeface="Glacial Indifference Bold"/>
                <a:cs typeface="Glacial Indifference Bold"/>
                <a:sym typeface="Glacial Indifference Bold"/>
              </a:rPr>
              <a:t>ZIMSTAT 2025 GDP rebasing: USD 52.4B total economy</a:t>
            </a:r>
          </a:p>
          <a:p>
            <a:pPr algn="l" marL="474979" indent="-237490" lvl="1">
              <a:lnSpc>
                <a:spcPts val="3079"/>
              </a:lnSpc>
              <a:buFont typeface="Arial"/>
              <a:buChar char="•"/>
            </a:pPr>
            <a:r>
              <a:rPr lang="en-US" b="true" sz="2199">
                <a:solidFill>
                  <a:srgbClr val="66574D"/>
                </a:solidFill>
                <a:latin typeface="Glacial Indifference Bold"/>
                <a:ea typeface="Glacial Indifference Bold"/>
                <a:cs typeface="Glacial Indifference Bold"/>
                <a:sym typeface="Glacial Indifference Bold"/>
              </a:rPr>
              <a:t>Cross-checked: IMF Article IV July 2024 + US State Dept 2025</a:t>
            </a:r>
          </a:p>
        </p:txBody>
      </p:sp>
      <p:sp>
        <p:nvSpPr>
          <p:cNvPr name="TextBox 9" id="9"/>
          <p:cNvSpPr txBox="true"/>
          <p:nvPr/>
        </p:nvSpPr>
        <p:spPr>
          <a:xfrm rot="0">
            <a:off x="1028700" y="8353283"/>
            <a:ext cx="9336286" cy="1163320"/>
          </a:xfrm>
          <a:prstGeom prst="rect">
            <a:avLst/>
          </a:prstGeom>
        </p:spPr>
        <p:txBody>
          <a:bodyPr anchor="t" rtlCol="false" tIns="0" lIns="0" bIns="0" rIns="0">
            <a:spAutoFit/>
          </a:bodyPr>
          <a:lstStyle/>
          <a:p>
            <a:pPr algn="ctr">
              <a:lnSpc>
                <a:spcPts val="3080"/>
              </a:lnSpc>
              <a:spcBef>
                <a:spcPct val="0"/>
              </a:spcBef>
            </a:pPr>
            <a:r>
              <a:rPr lang="en-US" b="true" sz="2200">
                <a:solidFill>
                  <a:srgbClr val="66574D"/>
                </a:solidFill>
                <a:latin typeface="Glacial Indifference Bold"/>
                <a:ea typeface="Glacial Indifference Bold"/>
                <a:cs typeface="Glacial Indifference Bold"/>
                <a:sym typeface="Glacial Indifference Bold"/>
              </a:rPr>
              <a:t>Pricing Benchmarks</a:t>
            </a:r>
          </a:p>
          <a:p>
            <a:pPr algn="l" marL="474981" indent="-237491" lvl="1">
              <a:lnSpc>
                <a:spcPts val="3080"/>
              </a:lnSpc>
              <a:buFont typeface="Arial"/>
              <a:buChar char="•"/>
            </a:pPr>
            <a:r>
              <a:rPr lang="en-US" b="true" sz="2200">
                <a:solidFill>
                  <a:srgbClr val="66574D"/>
                </a:solidFill>
                <a:latin typeface="Glacial Indifference Bold"/>
                <a:ea typeface="Glacial Indifference Bold"/>
                <a:cs typeface="Glacial Indifference Bold"/>
                <a:sym typeface="Glacial Indifference Bold"/>
              </a:rPr>
              <a:t>Parliamentary Budget &amp; Finance Committee consultations, 2025 MPS</a:t>
            </a:r>
          </a:p>
          <a:p>
            <a:pPr algn="l" marL="474981" indent="-237491" lvl="1">
              <a:lnSpc>
                <a:spcPts val="3080"/>
              </a:lnSpc>
              <a:buFont typeface="Arial"/>
              <a:buChar char="•"/>
            </a:pPr>
            <a:r>
              <a:rPr lang="en-US" b="true" sz="2200">
                <a:solidFill>
                  <a:srgbClr val="66574D"/>
                </a:solidFill>
                <a:latin typeface="Glacial Indifference Bold"/>
                <a:ea typeface="Glacial Indifference Bold"/>
                <a:cs typeface="Glacial Indifference Bold"/>
                <a:sym typeface="Glacial Indifference Bold"/>
              </a:rPr>
              <a:t>Bank tariff analysis, March 2025 (AFC, Stanbic, FBC, CBZ, NMB)</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9E1DB"/>
        </a:solidFill>
      </p:bgPr>
    </p:bg>
    <p:spTree>
      <p:nvGrpSpPr>
        <p:cNvPr id="1" name=""/>
        <p:cNvGrpSpPr/>
        <p:nvPr/>
      </p:nvGrpSpPr>
      <p:grpSpPr>
        <a:xfrm>
          <a:off x="0" y="0"/>
          <a:ext cx="0" cy="0"/>
          <a:chOff x="0" y="0"/>
          <a:chExt cx="0" cy="0"/>
        </a:xfrm>
      </p:grpSpPr>
      <p:sp>
        <p:nvSpPr>
          <p:cNvPr name="Freeform 2" id="2"/>
          <p:cNvSpPr/>
          <p:nvPr/>
        </p:nvSpPr>
        <p:spPr>
          <a:xfrm flipH="false" flipV="false" rot="0">
            <a:off x="0" y="2594409"/>
            <a:ext cx="7879238" cy="4917062"/>
          </a:xfrm>
          <a:custGeom>
            <a:avLst/>
            <a:gdLst/>
            <a:ahLst/>
            <a:cxnLst/>
            <a:rect r="r" b="b" t="t" l="l"/>
            <a:pathLst>
              <a:path h="4917062" w="7879238">
                <a:moveTo>
                  <a:pt x="0" y="0"/>
                </a:moveTo>
                <a:lnTo>
                  <a:pt x="7879238" y="0"/>
                </a:lnTo>
                <a:lnTo>
                  <a:pt x="7879238" y="4917061"/>
                </a:lnTo>
                <a:lnTo>
                  <a:pt x="0" y="4917061"/>
                </a:lnTo>
                <a:lnTo>
                  <a:pt x="0" y="0"/>
                </a:lnTo>
                <a:close/>
              </a:path>
            </a:pathLst>
          </a:custGeom>
          <a:blipFill>
            <a:blip r:embed="rId2"/>
            <a:stretch>
              <a:fillRect l="-2331" t="0" r="-2331" b="0"/>
            </a:stretch>
          </a:blipFill>
        </p:spPr>
      </p:sp>
      <p:sp>
        <p:nvSpPr>
          <p:cNvPr name="Freeform 3" id="3"/>
          <p:cNvSpPr/>
          <p:nvPr/>
        </p:nvSpPr>
        <p:spPr>
          <a:xfrm flipH="false" flipV="false" rot="0">
            <a:off x="10133462" y="2594409"/>
            <a:ext cx="8154538" cy="4917062"/>
          </a:xfrm>
          <a:custGeom>
            <a:avLst/>
            <a:gdLst/>
            <a:ahLst/>
            <a:cxnLst/>
            <a:rect r="r" b="b" t="t" l="l"/>
            <a:pathLst>
              <a:path h="4917062" w="8154538">
                <a:moveTo>
                  <a:pt x="0" y="0"/>
                </a:moveTo>
                <a:lnTo>
                  <a:pt x="8154538" y="0"/>
                </a:lnTo>
                <a:lnTo>
                  <a:pt x="8154538" y="4917061"/>
                </a:lnTo>
                <a:lnTo>
                  <a:pt x="0" y="4917061"/>
                </a:lnTo>
                <a:lnTo>
                  <a:pt x="0" y="0"/>
                </a:lnTo>
                <a:close/>
              </a:path>
            </a:pathLst>
          </a:custGeom>
          <a:blipFill>
            <a:blip r:embed="rId3"/>
            <a:stretch>
              <a:fillRect l="-564" t="0" r="-564" b="0"/>
            </a:stretch>
          </a:blipFill>
        </p:spPr>
      </p:sp>
      <p:sp>
        <p:nvSpPr>
          <p:cNvPr name="TextBox 4" id="4"/>
          <p:cNvSpPr txBox="true"/>
          <p:nvPr/>
        </p:nvSpPr>
        <p:spPr>
          <a:xfrm rot="0">
            <a:off x="4619313" y="63553"/>
            <a:ext cx="8829571" cy="2397506"/>
          </a:xfrm>
          <a:prstGeom prst="rect">
            <a:avLst/>
          </a:prstGeom>
        </p:spPr>
        <p:txBody>
          <a:bodyPr anchor="t" rtlCol="false" tIns="0" lIns="0" bIns="0" rIns="0">
            <a:spAutoFit/>
          </a:bodyPr>
          <a:lstStyle/>
          <a:p>
            <a:pPr algn="ctr">
              <a:lnSpc>
                <a:spcPts val="9604"/>
              </a:lnSpc>
              <a:spcBef>
                <a:spcPct val="0"/>
              </a:spcBef>
            </a:pPr>
            <a:r>
              <a:rPr lang="en-US" b="true" sz="6860">
                <a:solidFill>
                  <a:srgbClr val="66574D"/>
                </a:solidFill>
                <a:latin typeface="Glacial Indifference Bold"/>
                <a:ea typeface="Glacial Indifference Bold"/>
                <a:cs typeface="Glacial Indifference Bold"/>
                <a:sym typeface="Glacial Indifference Bold"/>
              </a:rPr>
              <a:t>UNIT COSTS AND UNIT PRICES</a:t>
            </a:r>
          </a:p>
        </p:txBody>
      </p:sp>
      <p:sp>
        <p:nvSpPr>
          <p:cNvPr name="TextBox 5" id="5"/>
          <p:cNvSpPr txBox="true"/>
          <p:nvPr/>
        </p:nvSpPr>
        <p:spPr>
          <a:xfrm rot="0">
            <a:off x="-107702" y="7587620"/>
            <a:ext cx="18283601" cy="209169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66574D"/>
                </a:solidFill>
                <a:latin typeface="Glacial Indifference"/>
                <a:ea typeface="Glacial Indifference"/>
                <a:cs typeface="Glacial Indifference"/>
                <a:sym typeface="Glacial Indifference"/>
              </a:rPr>
              <a:t>PCUB undercuts commercial banks on USD lending by 2 to 8 percentage points, while still turning a profit because our cost base is lower.</a:t>
            </a:r>
          </a:p>
          <a:p>
            <a:pPr algn="l" marL="518160" indent="-259080" lvl="1">
              <a:lnSpc>
                <a:spcPts val="3359"/>
              </a:lnSpc>
              <a:buFont typeface="Arial"/>
              <a:buChar char="•"/>
            </a:pPr>
            <a:r>
              <a:rPr lang="en-US" sz="2400">
                <a:solidFill>
                  <a:srgbClr val="66574D"/>
                </a:solidFill>
                <a:latin typeface="Glacial Indifference"/>
                <a:ea typeface="Glacial Indifference"/>
                <a:cs typeface="Glacial Indifference"/>
                <a:sym typeface="Glacial Indifference"/>
              </a:rPr>
              <a:t>On fees, we charge nothing for four out of five common services. The only fee we keep is a 1 percent over-the-counter withdrawal to cover cash handling at the kiosk. Why can we afford this? Because Zimbabwean banks pull 22 percent of their revenue from fees that are not tied to any real cost. That is extracted rent. We give it back to members and earn it back through lending volume.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9E1DB"/>
        </a:solidFill>
      </p:bgPr>
    </p:bg>
    <p:spTree>
      <p:nvGrpSpPr>
        <p:cNvPr id="1" name=""/>
        <p:cNvGrpSpPr/>
        <p:nvPr/>
      </p:nvGrpSpPr>
      <p:grpSpPr>
        <a:xfrm>
          <a:off x="0" y="0"/>
          <a:ext cx="0" cy="0"/>
          <a:chOff x="0" y="0"/>
          <a:chExt cx="0" cy="0"/>
        </a:xfrm>
      </p:grpSpPr>
      <p:grpSp>
        <p:nvGrpSpPr>
          <p:cNvPr name="Group 2" id="2"/>
          <p:cNvGrpSpPr/>
          <p:nvPr/>
        </p:nvGrpSpPr>
        <p:grpSpPr>
          <a:xfrm rot="0">
            <a:off x="11504080" y="1400333"/>
            <a:ext cx="5463542" cy="3533613"/>
            <a:chOff x="0" y="0"/>
            <a:chExt cx="846446" cy="547449"/>
          </a:xfrm>
        </p:grpSpPr>
        <p:sp>
          <p:nvSpPr>
            <p:cNvPr name="Freeform 3" id="3"/>
            <p:cNvSpPr/>
            <p:nvPr/>
          </p:nvSpPr>
          <p:spPr>
            <a:xfrm flipH="false" flipV="false" rot="0">
              <a:off x="0" y="0"/>
              <a:ext cx="846446" cy="547449"/>
            </a:xfrm>
            <a:custGeom>
              <a:avLst/>
              <a:gdLst/>
              <a:ahLst/>
              <a:cxnLst/>
              <a:rect r="r" b="b" t="t" l="l"/>
              <a:pathLst>
                <a:path h="547449" w="846446">
                  <a:moveTo>
                    <a:pt x="32591" y="0"/>
                  </a:moveTo>
                  <a:lnTo>
                    <a:pt x="813854" y="0"/>
                  </a:lnTo>
                  <a:cubicBezTo>
                    <a:pt x="831854" y="0"/>
                    <a:pt x="846446" y="14592"/>
                    <a:pt x="846446" y="32591"/>
                  </a:cubicBezTo>
                  <a:lnTo>
                    <a:pt x="846446" y="514858"/>
                  </a:lnTo>
                  <a:cubicBezTo>
                    <a:pt x="846446" y="532857"/>
                    <a:pt x="831854" y="547449"/>
                    <a:pt x="813854" y="547449"/>
                  </a:cubicBezTo>
                  <a:lnTo>
                    <a:pt x="32591" y="547449"/>
                  </a:lnTo>
                  <a:cubicBezTo>
                    <a:pt x="14592" y="547449"/>
                    <a:pt x="0" y="532857"/>
                    <a:pt x="0" y="514858"/>
                  </a:cubicBezTo>
                  <a:lnTo>
                    <a:pt x="0" y="32591"/>
                  </a:lnTo>
                  <a:cubicBezTo>
                    <a:pt x="0" y="14592"/>
                    <a:pt x="14592" y="0"/>
                    <a:pt x="32591" y="0"/>
                  </a:cubicBezTo>
                  <a:close/>
                </a:path>
              </a:pathLst>
            </a:custGeom>
            <a:blipFill>
              <a:blip r:embed="rId2"/>
              <a:stretch>
                <a:fillRect l="0" t="-1585" r="0" b="-1585"/>
              </a:stretch>
            </a:blipFill>
          </p:spPr>
        </p:sp>
      </p:grpSp>
      <p:grpSp>
        <p:nvGrpSpPr>
          <p:cNvPr name="Group 4" id="4"/>
          <p:cNvGrpSpPr/>
          <p:nvPr/>
        </p:nvGrpSpPr>
        <p:grpSpPr>
          <a:xfrm rot="0">
            <a:off x="11504080" y="5456869"/>
            <a:ext cx="5463542" cy="3533613"/>
            <a:chOff x="0" y="0"/>
            <a:chExt cx="846446" cy="547449"/>
          </a:xfrm>
        </p:grpSpPr>
        <p:sp>
          <p:nvSpPr>
            <p:cNvPr name="Freeform 5" id="5"/>
            <p:cNvSpPr/>
            <p:nvPr/>
          </p:nvSpPr>
          <p:spPr>
            <a:xfrm flipH="false" flipV="false" rot="0">
              <a:off x="0" y="0"/>
              <a:ext cx="846446" cy="547449"/>
            </a:xfrm>
            <a:custGeom>
              <a:avLst/>
              <a:gdLst/>
              <a:ahLst/>
              <a:cxnLst/>
              <a:rect r="r" b="b" t="t" l="l"/>
              <a:pathLst>
                <a:path h="547449" w="846446">
                  <a:moveTo>
                    <a:pt x="32591" y="0"/>
                  </a:moveTo>
                  <a:lnTo>
                    <a:pt x="813854" y="0"/>
                  </a:lnTo>
                  <a:cubicBezTo>
                    <a:pt x="831854" y="0"/>
                    <a:pt x="846446" y="14592"/>
                    <a:pt x="846446" y="32591"/>
                  </a:cubicBezTo>
                  <a:lnTo>
                    <a:pt x="846446" y="514858"/>
                  </a:lnTo>
                  <a:cubicBezTo>
                    <a:pt x="846446" y="532857"/>
                    <a:pt x="831854" y="547449"/>
                    <a:pt x="813854" y="547449"/>
                  </a:cubicBezTo>
                  <a:lnTo>
                    <a:pt x="32591" y="547449"/>
                  </a:lnTo>
                  <a:cubicBezTo>
                    <a:pt x="14592" y="547449"/>
                    <a:pt x="0" y="532857"/>
                    <a:pt x="0" y="514858"/>
                  </a:cubicBezTo>
                  <a:lnTo>
                    <a:pt x="0" y="32591"/>
                  </a:lnTo>
                  <a:cubicBezTo>
                    <a:pt x="0" y="14592"/>
                    <a:pt x="14592" y="0"/>
                    <a:pt x="32591" y="0"/>
                  </a:cubicBezTo>
                  <a:close/>
                </a:path>
              </a:pathLst>
            </a:custGeom>
            <a:blipFill>
              <a:blip r:embed="rId3"/>
              <a:stretch>
                <a:fillRect l="0" t="-1585" r="0" b="-1585"/>
              </a:stretch>
            </a:blipFill>
          </p:spPr>
        </p:sp>
      </p:grpSp>
      <p:grpSp>
        <p:nvGrpSpPr>
          <p:cNvPr name="Group 6" id="6"/>
          <p:cNvGrpSpPr/>
          <p:nvPr/>
        </p:nvGrpSpPr>
        <p:grpSpPr>
          <a:xfrm rot="0">
            <a:off x="-246270" y="782595"/>
            <a:ext cx="4719304" cy="8721809"/>
            <a:chOff x="0" y="0"/>
            <a:chExt cx="731144" cy="1351236"/>
          </a:xfrm>
        </p:grpSpPr>
        <p:sp>
          <p:nvSpPr>
            <p:cNvPr name="Freeform 7" id="7"/>
            <p:cNvSpPr/>
            <p:nvPr/>
          </p:nvSpPr>
          <p:spPr>
            <a:xfrm flipH="false" flipV="false" rot="0">
              <a:off x="0" y="0"/>
              <a:ext cx="731144" cy="1351236"/>
            </a:xfrm>
            <a:custGeom>
              <a:avLst/>
              <a:gdLst/>
              <a:ahLst/>
              <a:cxnLst/>
              <a:rect r="r" b="b" t="t" l="l"/>
              <a:pathLst>
                <a:path h="1351236" w="731144">
                  <a:moveTo>
                    <a:pt x="37731" y="0"/>
                  </a:moveTo>
                  <a:lnTo>
                    <a:pt x="693413" y="0"/>
                  </a:lnTo>
                  <a:cubicBezTo>
                    <a:pt x="714251" y="0"/>
                    <a:pt x="731144" y="16893"/>
                    <a:pt x="731144" y="37731"/>
                  </a:cubicBezTo>
                  <a:lnTo>
                    <a:pt x="731144" y="1313505"/>
                  </a:lnTo>
                  <a:cubicBezTo>
                    <a:pt x="731144" y="1334344"/>
                    <a:pt x="714251" y="1351236"/>
                    <a:pt x="693413" y="1351236"/>
                  </a:cubicBezTo>
                  <a:lnTo>
                    <a:pt x="37731" y="1351236"/>
                  </a:lnTo>
                  <a:cubicBezTo>
                    <a:pt x="16893" y="1351236"/>
                    <a:pt x="0" y="1334344"/>
                    <a:pt x="0" y="1313505"/>
                  </a:cubicBezTo>
                  <a:lnTo>
                    <a:pt x="0" y="37731"/>
                  </a:lnTo>
                  <a:cubicBezTo>
                    <a:pt x="0" y="16893"/>
                    <a:pt x="16893" y="0"/>
                    <a:pt x="37731" y="0"/>
                  </a:cubicBezTo>
                  <a:close/>
                </a:path>
              </a:pathLst>
            </a:custGeom>
            <a:blipFill>
              <a:blip r:embed="rId4"/>
              <a:stretch>
                <a:fillRect l="-75654" t="0" r="-101310" b="0"/>
              </a:stretch>
            </a:blipFill>
          </p:spPr>
        </p:sp>
      </p:grpSp>
      <p:sp>
        <p:nvSpPr>
          <p:cNvPr name="TextBox 8" id="8"/>
          <p:cNvSpPr txBox="true"/>
          <p:nvPr/>
        </p:nvSpPr>
        <p:spPr>
          <a:xfrm rot="0">
            <a:off x="5383836" y="4295359"/>
            <a:ext cx="4857310" cy="1763395"/>
          </a:xfrm>
          <a:prstGeom prst="rect">
            <a:avLst/>
          </a:prstGeom>
        </p:spPr>
        <p:txBody>
          <a:bodyPr anchor="t" rtlCol="false" tIns="0" lIns="0" bIns="0" rIns="0">
            <a:spAutoFit/>
          </a:bodyPr>
          <a:lstStyle/>
          <a:p>
            <a:pPr algn="l">
              <a:lnSpc>
                <a:spcPts val="6800"/>
              </a:lnSpc>
            </a:pPr>
            <a:r>
              <a:rPr lang="en-US" sz="6800">
                <a:solidFill>
                  <a:srgbClr val="66574D"/>
                </a:solidFill>
                <a:latin typeface="League Spartan"/>
                <a:ea typeface="League Spartan"/>
                <a:cs typeface="League Spartan"/>
                <a:sym typeface="League Spartan"/>
              </a:rPr>
              <a:t>THANK YOU!</a:t>
            </a:r>
          </a:p>
        </p:txBody>
      </p:sp>
      <p:grpSp>
        <p:nvGrpSpPr>
          <p:cNvPr name="Group 9" id="9"/>
          <p:cNvGrpSpPr/>
          <p:nvPr/>
        </p:nvGrpSpPr>
        <p:grpSpPr>
          <a:xfrm rot="0">
            <a:off x="17430488" y="335655"/>
            <a:ext cx="3086100" cy="9558978"/>
            <a:chOff x="0" y="0"/>
            <a:chExt cx="812800" cy="2517591"/>
          </a:xfrm>
        </p:grpSpPr>
        <p:sp>
          <p:nvSpPr>
            <p:cNvPr name="Freeform 10" id="10"/>
            <p:cNvSpPr/>
            <p:nvPr/>
          </p:nvSpPr>
          <p:spPr>
            <a:xfrm flipH="false" flipV="false" rot="0">
              <a:off x="0" y="0"/>
              <a:ext cx="812800" cy="2517591"/>
            </a:xfrm>
            <a:custGeom>
              <a:avLst/>
              <a:gdLst/>
              <a:ahLst/>
              <a:cxnLst/>
              <a:rect r="r" b="b" t="t" l="l"/>
              <a:pathLst>
                <a:path h="2517591" w="812800">
                  <a:moveTo>
                    <a:pt x="47664" y="0"/>
                  </a:moveTo>
                  <a:lnTo>
                    <a:pt x="765136" y="0"/>
                  </a:lnTo>
                  <a:cubicBezTo>
                    <a:pt x="791460" y="0"/>
                    <a:pt x="812800" y="21340"/>
                    <a:pt x="812800" y="47664"/>
                  </a:cubicBezTo>
                  <a:lnTo>
                    <a:pt x="812800" y="2469927"/>
                  </a:lnTo>
                  <a:cubicBezTo>
                    <a:pt x="812800" y="2496251"/>
                    <a:pt x="791460" y="2517591"/>
                    <a:pt x="765136" y="2517591"/>
                  </a:cubicBezTo>
                  <a:lnTo>
                    <a:pt x="47664" y="2517591"/>
                  </a:lnTo>
                  <a:cubicBezTo>
                    <a:pt x="35023" y="2517591"/>
                    <a:pt x="22899" y="2512569"/>
                    <a:pt x="13961" y="2503630"/>
                  </a:cubicBezTo>
                  <a:cubicBezTo>
                    <a:pt x="5022" y="2494692"/>
                    <a:pt x="0" y="2482568"/>
                    <a:pt x="0" y="2469927"/>
                  </a:cubicBezTo>
                  <a:lnTo>
                    <a:pt x="0" y="47664"/>
                  </a:lnTo>
                  <a:cubicBezTo>
                    <a:pt x="0" y="21340"/>
                    <a:pt x="21340" y="0"/>
                    <a:pt x="47664" y="0"/>
                  </a:cubicBezTo>
                  <a:close/>
                </a:path>
              </a:pathLst>
            </a:custGeom>
            <a:solidFill>
              <a:srgbClr val="3D3735"/>
            </a:solidFill>
          </p:spPr>
        </p:sp>
        <p:sp>
          <p:nvSpPr>
            <p:cNvPr name="TextBox 11" id="11"/>
            <p:cNvSpPr txBox="true"/>
            <p:nvPr/>
          </p:nvSpPr>
          <p:spPr>
            <a:xfrm>
              <a:off x="0" y="-57150"/>
              <a:ext cx="812800" cy="2574741"/>
            </a:xfrm>
            <a:prstGeom prst="rect">
              <a:avLst/>
            </a:prstGeom>
          </p:spPr>
          <p:txBody>
            <a:bodyPr anchor="ctr" rtlCol="false" tIns="50800" lIns="50800" bIns="50800" rIns="50800"/>
            <a:lstStyle/>
            <a:p>
              <a:pPr algn="ctr">
                <a:lnSpc>
                  <a:spcPts val="3359"/>
                </a:lnSpc>
              </a:pPr>
            </a:p>
          </p:txBody>
        </p:sp>
      </p:grpSp>
      <p:sp>
        <p:nvSpPr>
          <p:cNvPr name="Freeform 12" id="12"/>
          <p:cNvSpPr/>
          <p:nvPr/>
        </p:nvSpPr>
        <p:spPr>
          <a:xfrm flipH="false" flipV="false" rot="0">
            <a:off x="5383836" y="9323359"/>
            <a:ext cx="4084874" cy="4114800"/>
          </a:xfrm>
          <a:custGeom>
            <a:avLst/>
            <a:gdLst/>
            <a:ahLst/>
            <a:cxnLst/>
            <a:rect r="r" b="b" t="t" l="l"/>
            <a:pathLst>
              <a:path h="4114800" w="4084874">
                <a:moveTo>
                  <a:pt x="0" y="0"/>
                </a:moveTo>
                <a:lnTo>
                  <a:pt x="4084874" y="0"/>
                </a:lnTo>
                <a:lnTo>
                  <a:pt x="408487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DAHHPmDKJcI</dc:identifier>
  <dcterms:modified xsi:type="dcterms:W3CDTF">2011-08-01T06:04:30Z</dcterms:modified>
  <cp:revision>1</cp:revision>
  <dc:title>Blue and Gray Modern Finance Presentation</dc:title>
</cp:coreProperties>
</file>